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5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9D0B"/>
    <a:srgbClr val="A7DEF7"/>
    <a:srgbClr val="FA9C68"/>
    <a:srgbClr val="3AE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32561-34EF-4112-B20A-C05B47E85964}" v="128" dt="2026-08-18T19:04:49.780"/>
    <p1510:client id="{8C94AE34-CBE4-4B74-8BF4-3869E74C2DC6}" v="6" dt="2026-08-19T11:22:43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Dhar" userId="c4d4e3cd4fc7599c" providerId="LiveId" clId="{82E73AF5-9B92-416D-A1FE-A340BE750CC5}"/>
    <pc:docChg chg="custSel addSld modSld">
      <pc:chgData name="Pratik Dhar" userId="c4d4e3cd4fc7599c" providerId="LiveId" clId="{82E73AF5-9B92-416D-A1FE-A340BE750CC5}" dt="2026-08-19T11:24:44.201" v="401" actId="13926"/>
      <pc:docMkLst>
        <pc:docMk/>
      </pc:docMkLst>
      <pc:sldChg chg="addSp delSp modSp new mod">
        <pc:chgData name="Pratik Dhar" userId="c4d4e3cd4fc7599c" providerId="LiveId" clId="{82E73AF5-9B92-416D-A1FE-A340BE750CC5}" dt="2026-08-19T11:24:44.201" v="401" actId="13926"/>
        <pc:sldMkLst>
          <pc:docMk/>
          <pc:sldMk cId="2186789242" sldId="274"/>
        </pc:sldMkLst>
        <pc:spChg chg="del">
          <ac:chgData name="Pratik Dhar" userId="c4d4e3cd4fc7599c" providerId="LiveId" clId="{82E73AF5-9B92-416D-A1FE-A340BE750CC5}" dt="2026-08-19T10:51:47.589" v="1" actId="478"/>
          <ac:spMkLst>
            <pc:docMk/>
            <pc:sldMk cId="2186789242" sldId="274"/>
            <ac:spMk id="2" creationId="{D93E4ABF-BB02-E784-A4AB-E8B73926A53E}"/>
          </ac:spMkLst>
        </pc:spChg>
        <pc:spChg chg="del">
          <ac:chgData name="Pratik Dhar" userId="c4d4e3cd4fc7599c" providerId="LiveId" clId="{82E73AF5-9B92-416D-A1FE-A340BE750CC5}" dt="2026-08-19T10:51:49.393" v="2" actId="478"/>
          <ac:spMkLst>
            <pc:docMk/>
            <pc:sldMk cId="2186789242" sldId="274"/>
            <ac:spMk id="3" creationId="{1EA2C62B-484B-A926-D46E-9B544B7575FC}"/>
          </ac:spMkLst>
        </pc:spChg>
        <pc:spChg chg="add mod">
          <ac:chgData name="Pratik Dhar" userId="c4d4e3cd4fc7599c" providerId="LiveId" clId="{82E73AF5-9B92-416D-A1FE-A340BE750CC5}" dt="2026-08-19T10:52:34.834" v="70" actId="20577"/>
          <ac:spMkLst>
            <pc:docMk/>
            <pc:sldMk cId="2186789242" sldId="274"/>
            <ac:spMk id="4" creationId="{9C7413C4-6466-C69B-99E2-46A92A6C6A82}"/>
          </ac:spMkLst>
        </pc:spChg>
        <pc:spChg chg="add mod">
          <ac:chgData name="Pratik Dhar" userId="c4d4e3cd4fc7599c" providerId="LiveId" clId="{82E73AF5-9B92-416D-A1FE-A340BE750CC5}" dt="2026-08-19T11:24:44.201" v="401" actId="13926"/>
          <ac:spMkLst>
            <pc:docMk/>
            <pc:sldMk cId="2186789242" sldId="274"/>
            <ac:spMk id="5" creationId="{AC3F03F7-3F60-8A76-5AEF-5314D36337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FB46-56A6-1D64-F22B-EA628AD9F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EBDA0-0F4F-49DB-8D19-925FA2B2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E7EB5-61D5-F73A-E148-C0AFC7CF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94A6-C874-F08A-931D-9B3931FA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7E2EF-9D07-7AC4-138E-0D7EFC5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F592-7115-5510-2F08-D3C4E0A7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F61F-7A2F-FF34-E387-69A15534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4EC9-BA9C-2066-710B-D5F4604E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6BEEA-8723-CC6D-D1EF-AF9A8866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E99AC-514F-87D7-8119-AF681C6D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3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EE53-EFDB-DBA5-22F8-A85E8868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B83C-4853-61F9-FEA1-5658A7180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8A7E-0561-E885-DDE2-67934EBC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8E27D-086E-ADAB-55EE-F03CC0D7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BDD86-03DD-7008-4F79-EB8009B9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4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3E49-FE94-FB1C-85AB-2B15CD1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2D40-1984-8023-4857-DFA1C02AB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0B61D-5411-5B17-6410-C407A0249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46FB0-0ABF-261A-10D6-B938DA24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690A2-2E82-7AC8-153C-23BAADB6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1796-37DC-21BD-8699-AF36C92C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2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3CE4-8676-E5F4-B00C-0B6D757F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8B42A-5310-6A1A-E9F6-7EA56D1D9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D1CD1-4551-9FB6-35AC-73E193986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0D073-400B-D8E8-B033-60417FB3A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D7153-5E3E-BE84-2F2F-800ABBBE4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62683-B96D-D2DE-A5E3-C51A8172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061BF-892F-5D4E-F01D-C2508EDD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6083-A234-168E-FD89-7886A31C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7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98A6-354C-64C3-7328-382F44FE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05680-9AE6-1DDD-4EAC-7296167C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9751F-C84D-A940-FD8B-5E2755A3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C0346-7A72-8472-B429-081309D1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1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E20E9-8C75-66B1-07F2-6974DB34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D65FD-95ED-E44D-4B66-51DE57DC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44F86-99CB-42D2-CC2E-88A67AA5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7FAD-F7DB-C3E9-BE7F-1A038BCA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DDC1-DA9F-EEFE-92BC-39BF7B41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6571-EAE3-0C30-54DC-40A4993C9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78592-4410-C822-E52A-58714214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07273-1B73-B0F1-5029-BCC600A9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2873-EF9B-4893-5232-CD1020E4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F1A7-3265-0BA1-BBB0-60F4CFDB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BB007-F7A0-978D-9B1C-D34F6B03D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E18E0-7F79-287E-D4E7-EFB680E13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D1DA0-7F93-A427-7E94-D3A3B1AC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5C7D9-8C16-59D1-E82D-E6AF9377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2C051-09AE-4327-C022-52C3783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1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AC42-BA31-861F-5CF6-78281FBE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D8944-DAB7-FEFC-FC4F-E47031FA5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67B0-08B4-9A39-6C26-B9194068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493C2-B5EC-9E45-EE76-1308AA0F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9CAA-C687-E590-47BA-66D9E53F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1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5D680-4ED9-630E-7F2D-CBB9641CF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4E01C-8DF4-4384-54B2-D6E2B1133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09A1-C516-54D2-3473-C9B6ADEA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CF21-DE45-18EC-C87B-8B5F1967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2620-F45D-EBFC-6BC5-50F3A9E8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4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22DBF-B66E-208C-F794-83786BB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AAC0F-D6E2-A805-35D2-FAE6B97C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E5060-D822-D049-F6BB-7A60B45D7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ECA-768F-4D32-85F9-5D33C4CD00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25B0-6C7E-112B-4808-3A98381A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818E-2337-87FA-0AA7-F2DF52A3D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item/LA1576" TargetMode="External"/><Relationship Id="rId2" Type="http://schemas.openxmlformats.org/officeDocument/2006/relationships/hyperlink" Target="https://www.edmundoptics.in/p/120mm-dia-x-120mm-fl-uncoated-plano-convex-lens/5574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mundoptics.in/p/60mm-optic-diameter-optic-mount/19264/" TargetMode="External"/><Relationship Id="rId3" Type="http://schemas.openxmlformats.org/officeDocument/2006/relationships/hyperlink" Target="https://www.thorlabs.com/right-angle-kinematic-mirror-mounts-for-30-mm-cage-systems" TargetMode="External"/><Relationship Id="rId7" Type="http://schemas.openxmlformats.org/officeDocument/2006/relationships/hyperlink" Target="https://www.edmundoptics.in/p/120mm-optic-diameter-optic-mount/19267/" TargetMode="External"/><Relationship Id="rId2" Type="http://schemas.openxmlformats.org/officeDocument/2006/relationships/hyperlink" Target="https://www.thorlabs.com/item/KCB1C?aID=92a19c293d2928b9014db1ef41c70b35&amp;aC=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dmundoptics.in/p/120mm-dia-x-120mm-fl-uncoated-plano-convex-lens/5574/" TargetMode="External"/><Relationship Id="rId5" Type="http://schemas.openxmlformats.org/officeDocument/2006/relationships/hyperlink" Target="https://www.thorlabs.com/kinematic-microscope-objective-mount" TargetMode="External"/><Relationship Id="rId10" Type="http://schemas.openxmlformats.org/officeDocument/2006/relationships/hyperlink" Target="https://www.thorlabs.com/mounted-achromatic-doublets-ar-coated-400---700-nm" TargetMode="External"/><Relationship Id="rId4" Type="http://schemas.openxmlformats.org/officeDocument/2006/relationships/hyperlink" Target="https://www.thorlabs.com/item/KM100R" TargetMode="External"/><Relationship Id="rId9" Type="http://schemas.openxmlformats.org/officeDocument/2006/relationships/hyperlink" Target="https://www.thorlabs.com/item/AC050-008-A-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www.thorlabs.com/item/S1TM09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horlabs.com/item/LMR1_M" TargetMode="External"/><Relationship Id="rId5" Type="http://schemas.openxmlformats.org/officeDocument/2006/relationships/hyperlink" Target="https://www.thorlabs.com/item/AC050-008-A-ML" TargetMode="Externa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horlabs.com/item/LMR1_M" TargetMode="External"/><Relationship Id="rId5" Type="http://schemas.openxmlformats.org/officeDocument/2006/relationships/hyperlink" Target="https://www.thorlabs.com/item/LA1951" TargetMode="Externa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hyperlink" Target="https://www.thorlabs.com/item/RMS10X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horlabs.com/item/KCB1_M" TargetMode="External"/><Relationship Id="rId5" Type="http://schemas.openxmlformats.org/officeDocument/2006/relationships/hyperlink" Target="https://www.thorlabs.com/item/M1RMSS" TargetMode="Externa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hyperlink" Target="https://www.thorlabs.com/item/LA113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item/LMRA6" TargetMode="External"/><Relationship Id="rId2" Type="http://schemas.openxmlformats.org/officeDocument/2006/relationships/hyperlink" Target="https://www.thorlabs.com/item/LMR05_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2C8F0-8657-6ACD-649C-232A432F1644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       Design of Reflection Microscopy with different lenses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5289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989A-DA41-5AA1-81BF-B572A4A8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61C6682-C522-95C8-C07F-4EFEE2FF757F}"/>
              </a:ext>
            </a:extLst>
          </p:cNvPr>
          <p:cNvSpPr txBox="1"/>
          <p:nvPr/>
        </p:nvSpPr>
        <p:spPr>
          <a:xfrm>
            <a:off x="693464" y="590592"/>
            <a:ext cx="5755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Smartphone camera as detector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Plano-convex lens as Tube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Beam splitter 70:30 (R:T) BST10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Microscope objective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Collimating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LED as light source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E366B20-8D00-5095-9954-BAC57DD53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64" y="2344918"/>
            <a:ext cx="3604572" cy="4343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1D6CE1-17E2-34D7-0E00-63713BCEFF6A}"/>
              </a:ext>
            </a:extLst>
          </p:cNvPr>
          <p:cNvSpPr txBox="1"/>
          <p:nvPr/>
        </p:nvSpPr>
        <p:spPr>
          <a:xfrm>
            <a:off x="6982615" y="867590"/>
            <a:ext cx="34685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Smartphone camera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Plano-convex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Beamsplitter 70:30 (R:T) BST10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Achromatic doublet or Ball lens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LED as light source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ACC2B3-779F-3A82-D256-BCC31F60E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15" y="2360159"/>
            <a:ext cx="2994920" cy="43285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841CA9-8086-D0A6-EEB0-8B899C125F6F}"/>
              </a:ext>
            </a:extLst>
          </p:cNvPr>
          <p:cNvSpPr txBox="1"/>
          <p:nvPr/>
        </p:nvSpPr>
        <p:spPr>
          <a:xfrm>
            <a:off x="1898511" y="242097"/>
            <a:ext cx="1086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0C632-98A6-988B-3533-FDED983DE667}"/>
              </a:ext>
            </a:extLst>
          </p:cNvPr>
          <p:cNvSpPr txBox="1"/>
          <p:nvPr/>
        </p:nvSpPr>
        <p:spPr>
          <a:xfrm>
            <a:off x="8226513" y="305972"/>
            <a:ext cx="1086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 2</a:t>
            </a:r>
          </a:p>
        </p:txBody>
      </p:sp>
    </p:spTree>
    <p:extLst>
      <p:ext uri="{BB962C8B-B14F-4D97-AF65-F5344CB8AC3E}">
        <p14:creationId xmlns:p14="http://schemas.microsoft.com/office/powerpoint/2010/main" val="261773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D9F6F4-8734-8A37-BA59-E6F6D1AD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95646"/>
              </p:ext>
            </p:extLst>
          </p:nvPr>
        </p:nvGraphicFramePr>
        <p:xfrm>
          <a:off x="1752564" y="451332"/>
          <a:ext cx="8686871" cy="6095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20">
                  <a:extLst>
                    <a:ext uri="{9D8B030D-6E8A-4147-A177-3AD203B41FA5}">
                      <a16:colId xmlns:a16="http://schemas.microsoft.com/office/drawing/2014/main" val="446172867"/>
                    </a:ext>
                  </a:extLst>
                </a:gridCol>
                <a:gridCol w="3774223">
                  <a:extLst>
                    <a:ext uri="{9D8B030D-6E8A-4147-A177-3AD203B41FA5}">
                      <a16:colId xmlns:a16="http://schemas.microsoft.com/office/drawing/2014/main" val="798762289"/>
                    </a:ext>
                  </a:extLst>
                </a:gridCol>
                <a:gridCol w="467791">
                  <a:extLst>
                    <a:ext uri="{9D8B030D-6E8A-4147-A177-3AD203B41FA5}">
                      <a16:colId xmlns:a16="http://schemas.microsoft.com/office/drawing/2014/main" val="179183398"/>
                    </a:ext>
                  </a:extLst>
                </a:gridCol>
                <a:gridCol w="4041137">
                  <a:extLst>
                    <a:ext uri="{9D8B030D-6E8A-4147-A177-3AD203B41FA5}">
                      <a16:colId xmlns:a16="http://schemas.microsoft.com/office/drawing/2014/main" val="344830276"/>
                    </a:ext>
                  </a:extLst>
                </a:gridCol>
              </a:tblGrid>
              <a:tr h="2785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Layout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 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051349"/>
                  </a:ext>
                </a:extLst>
              </a:tr>
              <a:tr h="69635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Phone Camera as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Smart Phone Camera as detector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847118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Plano-convex lens as tube lens (D= 6 mm, f= 11 mm) </a:t>
                      </a:r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37-775)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Plano-convex lens as tube lens (D= 6 mm, f= 11 mm) </a:t>
                      </a:r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37-775)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48328"/>
                  </a:ext>
                </a:extLst>
              </a:tr>
              <a:tr h="132306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Beamsplitter  70:30 (R:T) </a:t>
                      </a:r>
                      <a:r>
                        <a:rPr lang="en-US" b="1" dirty="0"/>
                        <a:t>(BST10, Thorlabs)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or</a:t>
                      </a:r>
                      <a:r>
                        <a:rPr lang="en-US" b="1" dirty="0"/>
                        <a:t> (</a:t>
                      </a:r>
                      <a:r>
                        <a:rPr lang="en-US" sz="1800" b="1" i="0" kern="1200" cap="all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#45-314, Edmund Optics)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Beamsplitter  70:30 (R:T) </a:t>
                      </a:r>
                      <a:r>
                        <a:rPr lang="en-US" b="1" dirty="0"/>
                        <a:t>(BST10, Thorlabs)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or</a:t>
                      </a:r>
                      <a:r>
                        <a:rPr lang="en-US" b="1" dirty="0"/>
                        <a:t> (</a:t>
                      </a:r>
                      <a:r>
                        <a:rPr lang="en-US" sz="1800" b="1" i="0" kern="1200" cap="all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#45-314, Edmund Optics)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46782"/>
                  </a:ext>
                </a:extLst>
              </a:tr>
              <a:tr h="132306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Microscope Objective</a:t>
                      </a:r>
                    </a:p>
                    <a:p>
                      <a:r>
                        <a:rPr lang="en-US" dirty="0"/>
                        <a:t>RMS10X, Thorlabs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Ball lens (d= 3mm) </a:t>
                      </a:r>
                      <a:r>
                        <a:rPr lang="en-US" b="1" dirty="0"/>
                        <a:t>(#43711, EO)</a:t>
                      </a:r>
                    </a:p>
                    <a:p>
                      <a:r>
                        <a:rPr lang="en-US" b="0" dirty="0"/>
                        <a:t>or Achromatic doublet lens (d= 4 mm, f= 6 mm)</a:t>
                      </a:r>
                    </a:p>
                    <a:p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63–714, EO)</a:t>
                      </a:r>
                      <a:r>
                        <a:rPr lang="en-US" b="1" dirty="0"/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19515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Collimating lens </a:t>
                      </a:r>
                    </a:p>
                    <a:p>
                      <a:r>
                        <a:rPr lang="en-US" dirty="0"/>
                        <a:t>(PCX  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#45-083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or 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LA1576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Thorlabs)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1W LED as light source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847170"/>
                  </a:ext>
                </a:extLst>
              </a:tr>
              <a:tr h="418287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1W LED as light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2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5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9468E-CB19-5394-031C-67A738C7E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32624"/>
              </p:ext>
            </p:extLst>
          </p:nvPr>
        </p:nvGraphicFramePr>
        <p:xfrm>
          <a:off x="724309" y="169059"/>
          <a:ext cx="10730271" cy="6285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757">
                  <a:extLst>
                    <a:ext uri="{9D8B030D-6E8A-4147-A177-3AD203B41FA5}">
                      <a16:colId xmlns:a16="http://schemas.microsoft.com/office/drawing/2014/main" val="3228555788"/>
                    </a:ext>
                  </a:extLst>
                </a:gridCol>
                <a:gridCol w="3576757">
                  <a:extLst>
                    <a:ext uri="{9D8B030D-6E8A-4147-A177-3AD203B41FA5}">
                      <a16:colId xmlns:a16="http://schemas.microsoft.com/office/drawing/2014/main" val="2261895651"/>
                    </a:ext>
                  </a:extLst>
                </a:gridCol>
                <a:gridCol w="3576757">
                  <a:extLst>
                    <a:ext uri="{9D8B030D-6E8A-4147-A177-3AD203B41FA5}">
                      <a16:colId xmlns:a16="http://schemas.microsoft.com/office/drawing/2014/main" val="1578772176"/>
                    </a:ext>
                  </a:extLst>
                </a:gridCol>
              </a:tblGrid>
              <a:tr h="3913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65742"/>
                  </a:ext>
                </a:extLst>
              </a:tr>
              <a:tr h="927191">
                <a:tc>
                  <a:txBody>
                    <a:bodyPr/>
                    <a:lstStyle/>
                    <a:p>
                      <a:r>
                        <a:rPr lang="en-US" dirty="0"/>
                        <a:t>Beamsplitter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KCB1C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r>
                        <a:rPr lang="en-US" b="1" dirty="0"/>
                        <a:t>BST10, Thorlabs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https://www.thorlabs.com/right-angle-kinematic-mirror-mounts-for-30-mm-cage-systems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42862"/>
                  </a:ext>
                </a:extLst>
              </a:tr>
              <a:tr h="645970">
                <a:tc>
                  <a:txBody>
                    <a:bodyPr/>
                    <a:lstStyle/>
                    <a:p>
                      <a:r>
                        <a:rPr lang="en-US" dirty="0"/>
                        <a:t>Microscope objective (RMS10X, Thorlabs)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KM100R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https://www.thorlabs.com/kinematic-microscope-objective-mount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522172"/>
                  </a:ext>
                </a:extLst>
              </a:tr>
              <a:tr h="897723">
                <a:tc>
                  <a:txBody>
                    <a:bodyPr/>
                    <a:lstStyle/>
                    <a:p>
                      <a:r>
                        <a:rPr lang="en-US" dirty="0"/>
                        <a:t>Plano-convex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(a) 64-555 for (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45-083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f=12 mm, </a:t>
                      </a:r>
                    </a:p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d= 12mm)</a:t>
                      </a:r>
                    </a:p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(b) 64-552 for (37-775 , f= 11mm,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d= 6mm)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LcParenBoth"/>
                      </a:pPr>
                      <a:r>
                        <a:rPr lang="en-US" dirty="0">
                          <a:hlinkClick r:id="rId7"/>
                        </a:rPr>
                        <a:t>https://www.edmundoptics.in/p/120mm-optic-diameter-optic-mount/19267/</a:t>
                      </a:r>
                      <a:endParaRPr lang="en-US" dirty="0"/>
                    </a:p>
                    <a:p>
                      <a:pPr marL="342900" indent="-342900">
                        <a:buAutoNum type="alphaLcParenBoth"/>
                      </a:pPr>
                      <a:r>
                        <a:rPr lang="en-US" dirty="0">
                          <a:hlinkClick r:id="rId8"/>
                        </a:rPr>
                        <a:t>https://www.edmundoptics.in/p/60mm-optic-diameter-optic-mount/19264/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4531"/>
                  </a:ext>
                </a:extLst>
              </a:tr>
              <a:tr h="480806">
                <a:tc>
                  <a:txBody>
                    <a:bodyPr/>
                    <a:lstStyle/>
                    <a:p>
                      <a:r>
                        <a:rPr lang="en-US" dirty="0"/>
                        <a:t>Achromatic doublet lens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+mj-lt"/>
                        <a:buAutoNum type="alphaLcParenBoth"/>
                      </a:pPr>
                      <a:r>
                        <a:rPr lang="en-US" b="1" i="0" dirty="0">
                          <a:solidFill>
                            <a:srgbClr val="005CB9"/>
                          </a:solidFill>
                          <a:effectLst/>
                          <a:latin typeface="Manrope"/>
                          <a:hlinkClick r:id="rId9"/>
                        </a:rPr>
                        <a:t>AC050-008-A-ML</a:t>
                      </a:r>
                      <a:endParaRPr lang="en-US" b="1" i="0" dirty="0">
                        <a:solidFill>
                          <a:srgbClr val="005CB9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Font typeface="+mj-lt"/>
                        <a:buAutoNum type="alphaLcParenBoth"/>
                      </a:pPr>
                      <a:r>
                        <a:rPr lang="en-US" b="1" i="0" dirty="0">
                          <a:solidFill>
                            <a:srgbClr val="005CB9"/>
                          </a:solidFill>
                          <a:effectLst/>
                          <a:latin typeface="Manrope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63–714</a:t>
                      </a:r>
                      <a:endParaRPr lang="en-US" b="1" i="0" dirty="0">
                        <a:solidFill>
                          <a:srgbClr val="005CB9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Font typeface="+mj-lt"/>
                        <a:buAutoNum type="alphaLcParenR"/>
                      </a:pPr>
                      <a:endParaRPr lang="en-US" b="0" i="0" dirty="0">
                        <a:solidFill>
                          <a:srgbClr val="3B3B3B"/>
                        </a:solidFill>
                        <a:effectLst/>
                        <a:latin typeface="Manrop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AutoNum type="alphaLcParenBoth"/>
                      </a:pPr>
                      <a:r>
                        <a:rPr lang="en-US" b="0" i="0" dirty="0">
                          <a:solidFill>
                            <a:srgbClr val="3B3B3B"/>
                          </a:solidFill>
                          <a:effectLst/>
                          <a:latin typeface="Manrope"/>
                          <a:hlinkClick r:id="rId10"/>
                        </a:rPr>
                        <a:t>https://www.thorlabs.com/mounted-achromatic-doublets-ar-coated-400---700-nm</a:t>
                      </a:r>
                      <a:endParaRPr lang="en-US" b="0" i="0" dirty="0">
                        <a:solidFill>
                          <a:srgbClr val="3B3B3B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AutoNum type="alphaLcParenBoth"/>
                      </a:pPr>
                      <a:r>
                        <a:rPr lang="en-US" b="0" i="0" dirty="0">
                          <a:solidFill>
                            <a:srgbClr val="3B3B3B"/>
                          </a:solidFill>
                          <a:effectLst/>
                          <a:latin typeface="Manrope"/>
                        </a:rPr>
                        <a:t>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085570"/>
                  </a:ext>
                </a:extLst>
              </a:tr>
              <a:tr h="468015">
                <a:tc>
                  <a:txBody>
                    <a:bodyPr/>
                    <a:lstStyle/>
                    <a:p>
                      <a:r>
                        <a:rPr lang="en-US" dirty="0"/>
                        <a:t>Ball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143345"/>
                  </a:ext>
                </a:extLst>
              </a:tr>
              <a:tr h="927191">
                <a:tc>
                  <a:txBody>
                    <a:bodyPr/>
                    <a:lstStyle/>
                    <a:p>
                      <a:r>
                        <a:rPr lang="en-US" dirty="0"/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USB-OTG cable or 9V battery with battery snapper </a:t>
                      </a:r>
                      <a:r>
                        <a:rPr lang="en-US"/>
                        <a:t>and resistor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284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81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DE33AB-EF33-5B17-8F25-07662095F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859"/>
            <a:ext cx="4295526" cy="2029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97B2BA-3DB6-AAC2-1FA2-6DC9B22B0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97" y="3129335"/>
            <a:ext cx="2937152" cy="3073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DEAEE0-4B6F-D0F4-2EDA-1C4ADD217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700" y="3178764"/>
            <a:ext cx="2937152" cy="3023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49085D-9436-2E14-F39A-95E566639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51" y="3216673"/>
            <a:ext cx="2937152" cy="29481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848BBB-F69D-200E-3942-42FCBE86D4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08" y="618586"/>
            <a:ext cx="4473063" cy="20298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EF31046-BB41-64E8-065F-09A6E3752C9A}"/>
              </a:ext>
            </a:extLst>
          </p:cNvPr>
          <p:cNvSpPr txBox="1"/>
          <p:nvPr/>
        </p:nvSpPr>
        <p:spPr>
          <a:xfrm>
            <a:off x="4207148" y="121636"/>
            <a:ext cx="338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Ball Lens as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B242A-8BEB-2E01-0345-5488D73ADCDA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31AD6-8B90-192A-27DC-D620E6013FF0}"/>
              </a:ext>
            </a:extLst>
          </p:cNvPr>
          <p:cNvSpPr txBox="1"/>
          <p:nvPr/>
        </p:nvSpPr>
        <p:spPr>
          <a:xfrm>
            <a:off x="885518" y="2671647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C11F0-21F6-238F-9AF2-CB4AF346FEE8}"/>
              </a:ext>
            </a:extLst>
          </p:cNvPr>
          <p:cNvSpPr txBox="1"/>
          <p:nvPr/>
        </p:nvSpPr>
        <p:spPr>
          <a:xfrm>
            <a:off x="4613766" y="2702122"/>
            <a:ext cx="234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B22D3-8CBE-F204-B629-08B3A66A4B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534" y="109209"/>
            <a:ext cx="2362985" cy="2592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8737F-1A61-F6D0-7F64-8A0708F9A5A1}"/>
              </a:ext>
            </a:extLst>
          </p:cNvPr>
          <p:cNvSpPr txBox="1"/>
          <p:nvPr/>
        </p:nvSpPr>
        <p:spPr>
          <a:xfrm>
            <a:off x="8993456" y="2809432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82734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70A3F1-5206-97E8-2473-17E9A51D2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3" y="435922"/>
            <a:ext cx="2443244" cy="2215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0CF11-8FB5-8E63-22CE-07B9A7BDA60A}"/>
              </a:ext>
            </a:extLst>
          </p:cNvPr>
          <p:cNvSpPr txBox="1"/>
          <p:nvPr/>
        </p:nvSpPr>
        <p:spPr>
          <a:xfrm>
            <a:off x="4552336" y="137651"/>
            <a:ext cx="298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Achromatic Lens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29B3C-EAAA-0573-0E32-145FF943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18" y="606372"/>
            <a:ext cx="5163147" cy="2010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8B624-A20D-1BB4-11C5-340FB147E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7"/>
          <a:stretch>
            <a:fillRect/>
          </a:stretch>
        </p:blipFill>
        <p:spPr>
          <a:xfrm>
            <a:off x="882736" y="2983596"/>
            <a:ext cx="2989964" cy="3233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E9885-E29C-DFC0-2CF7-89C7C9D2B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36" y="2974353"/>
            <a:ext cx="3392129" cy="3242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1A9DD5-F7CC-5D59-5E8D-17ABAF98A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101" y="2983596"/>
            <a:ext cx="3105783" cy="3236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304548-B6C2-7A7A-B2C3-A4C5A2C8D77E}"/>
              </a:ext>
            </a:extLst>
          </p:cNvPr>
          <p:cNvSpPr txBox="1"/>
          <p:nvPr/>
        </p:nvSpPr>
        <p:spPr>
          <a:xfrm>
            <a:off x="240652" y="2579315"/>
            <a:ext cx="1748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  <a:p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6E1D2-BAE2-0E4C-371D-83AC750C5E4D}"/>
              </a:ext>
            </a:extLst>
          </p:cNvPr>
          <p:cNvSpPr txBox="1"/>
          <p:nvPr/>
        </p:nvSpPr>
        <p:spPr>
          <a:xfrm>
            <a:off x="2781318" y="2647664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CFA31-E341-B1E7-32A6-BBF0DBCCE3B6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8D191-B445-BD42-764D-A1921F49F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38" y="99794"/>
            <a:ext cx="2319202" cy="24795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23AE71-2C22-C9AB-3D68-0DDAC55704D9}"/>
              </a:ext>
            </a:extLst>
          </p:cNvPr>
          <p:cNvSpPr txBox="1"/>
          <p:nvPr/>
        </p:nvSpPr>
        <p:spPr>
          <a:xfrm>
            <a:off x="8843717" y="2647664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157135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5D63D-E52A-64E8-14ED-300084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4" y="994198"/>
            <a:ext cx="3765536" cy="1227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ED147-0537-550A-041F-07853178E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60" y="865110"/>
            <a:ext cx="4363347" cy="1868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05522-9EF0-450E-CEC0-3BD244AD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917" y="304537"/>
            <a:ext cx="2344819" cy="260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AD28A-E810-2BF1-CD66-DE4AA69D6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2" y="3429000"/>
            <a:ext cx="2864808" cy="2711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20761B-2FB0-4E4C-F029-04F1B453DC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29" y="3429000"/>
            <a:ext cx="2864808" cy="2799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2F0793-2540-9B65-7299-189B5039DD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260" y="3395681"/>
            <a:ext cx="3085488" cy="28324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744208-E9B6-4DFA-0C25-7BEA06FD852D}"/>
              </a:ext>
            </a:extLst>
          </p:cNvPr>
          <p:cNvSpPr txBox="1"/>
          <p:nvPr/>
        </p:nvSpPr>
        <p:spPr>
          <a:xfrm>
            <a:off x="4407813" y="208544"/>
            <a:ext cx="343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Microscopic 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2B934-3218-8E0D-01D4-6BC060C87FEB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90899-26A6-CBDA-065B-5CF88F8BA089}"/>
              </a:ext>
            </a:extLst>
          </p:cNvPr>
          <p:cNvSpPr txBox="1"/>
          <p:nvPr/>
        </p:nvSpPr>
        <p:spPr>
          <a:xfrm>
            <a:off x="747375" y="2733368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BB39B-D956-4369-4864-770A4B3804C9}"/>
              </a:ext>
            </a:extLst>
          </p:cNvPr>
          <p:cNvSpPr txBox="1"/>
          <p:nvPr/>
        </p:nvSpPr>
        <p:spPr>
          <a:xfrm>
            <a:off x="3233933" y="2867101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DECB4-DEBB-1B04-2C36-D82E9D5A9638}"/>
              </a:ext>
            </a:extLst>
          </p:cNvPr>
          <p:cNvSpPr txBox="1"/>
          <p:nvPr/>
        </p:nvSpPr>
        <p:spPr>
          <a:xfrm>
            <a:off x="8979078" y="2950670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279405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/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6  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=1.83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4A065C-8068-DAF9-9C7E-D972109AF369}"/>
              </a:ext>
            </a:extLst>
          </p:cNvPr>
          <p:cNvSpPr txBox="1"/>
          <p:nvPr/>
        </p:nvSpPr>
        <p:spPr>
          <a:xfrm>
            <a:off x="560438" y="206477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AFBD4-A811-3884-1590-9B401411AAB2}"/>
              </a:ext>
            </a:extLst>
          </p:cNvPr>
          <p:cNvSpPr txBox="1"/>
          <p:nvPr/>
        </p:nvSpPr>
        <p:spPr>
          <a:xfrm>
            <a:off x="580103" y="1022555"/>
            <a:ext cx="10437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i="1" dirty="0"/>
              <a:t>Magnification of system using ball lens as objective lens </a:t>
            </a:r>
          </a:p>
          <a:p>
            <a:r>
              <a:rPr lang="en-US" i="1" dirty="0"/>
              <a:t>      M(total) = M1 × M2</a:t>
            </a:r>
          </a:p>
          <a:p>
            <a:r>
              <a:rPr lang="en-US" i="1" dirty="0"/>
              <a:t>      M1 = 1000 (n −1) n/D is the magnification obtained from the ball lens where n is the refractive </a:t>
            </a:r>
          </a:p>
          <a:p>
            <a:r>
              <a:rPr lang="en-US" i="1" dirty="0"/>
              <a:t>      index and D is the diameter of the ball lens and M2 = 1 + d /f is the magnification due to the PCX lens used.</a:t>
            </a:r>
          </a:p>
          <a:p>
            <a:r>
              <a:rPr lang="en-US" i="1" dirty="0"/>
              <a:t>      M(total) = 171x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/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 is the focal length of tube lens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dirty="0"/>
                  <a:t>is the focal length of objective lens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blipFill>
                <a:blip r:embed="rId3"/>
                <a:stretch>
                  <a:fillRect l="-95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253758-B024-52C8-45C1-76784CA57B9F}"/>
              </a:ext>
            </a:extLst>
          </p:cNvPr>
          <p:cNvSpPr txBox="1"/>
          <p:nvPr/>
        </p:nvSpPr>
        <p:spPr>
          <a:xfrm>
            <a:off x="462116" y="2797075"/>
            <a:ext cx="633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2. Magnification of system using achromatic lens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323303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E1CFF0-7859-85A9-D7F2-B6B3750CFF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686299"/>
                  </p:ext>
                </p:extLst>
              </p:nvPr>
            </p:nvGraphicFramePr>
            <p:xfrm>
              <a:off x="1183587" y="99758"/>
              <a:ext cx="9478128" cy="63443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8417">
                      <a:extLst>
                        <a:ext uri="{9D8B030D-6E8A-4147-A177-3AD203B41FA5}">
                          <a16:colId xmlns:a16="http://schemas.microsoft.com/office/drawing/2014/main" val="1766654896"/>
                        </a:ext>
                      </a:extLst>
                    </a:gridCol>
                    <a:gridCol w="4030647">
                      <a:extLst>
                        <a:ext uri="{9D8B030D-6E8A-4147-A177-3AD203B41FA5}">
                          <a16:colId xmlns:a16="http://schemas.microsoft.com/office/drawing/2014/main" val="1091034849"/>
                        </a:ext>
                      </a:extLst>
                    </a:gridCol>
                    <a:gridCol w="2938545">
                      <a:extLst>
                        <a:ext uri="{9D8B030D-6E8A-4147-A177-3AD203B41FA5}">
                          <a16:colId xmlns:a16="http://schemas.microsoft.com/office/drawing/2014/main" val="3661779336"/>
                        </a:ext>
                      </a:extLst>
                    </a:gridCol>
                    <a:gridCol w="1800519">
                      <a:extLst>
                        <a:ext uri="{9D8B030D-6E8A-4147-A177-3AD203B41FA5}">
                          <a16:colId xmlns:a16="http://schemas.microsoft.com/office/drawing/2014/main" val="4145426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MO/Achromatic doublet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Tube Lens (Plano convex lens) </a:t>
                          </a:r>
                        </a:p>
                        <a:p>
                          <a:r>
                            <a:rPr lang="en-US" dirty="0"/>
                            <a:t>Magnification of PCX</a:t>
                          </a:r>
                          <a:r>
                            <a:rPr lang="en-US" baseline="0" dirty="0"/>
                            <a:t> lens</a:t>
                          </a:r>
                          <a:r>
                            <a:rPr lang="en-US" dirty="0"/>
                            <a:t> = 1+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Magnification</a:t>
                          </a:r>
                        </a:p>
                        <a:p>
                          <a:r>
                            <a:rPr lang="en-US" dirty="0"/>
                            <a:t>M = M(1) x M(2)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6163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RMS20X MO (EFL= , WD= , NA= ) , M(1) = 20X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 (f= 25 mm, d= 25.4 mm), M(2) = 2.016x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or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6mm, )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M(2) = 1.5x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= 40.32x</a:t>
                          </a:r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M = 30x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934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RMS10X MO ( EFL= 18 mm, WD = 10.6 mm, NA= 0.25) , M(1) = 10x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 ( f= 100 mm, d= 12.7 mm), M(2) = 2.016x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  or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6mm, )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M(2) = 1.5x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= 20.16x</a:t>
                          </a:r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M = 15x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1378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AC050-008-A ( Achromatic Lens, f=7.5 mm, d = 5mm)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( f= 25 mm, d= 25.4 mm), 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6mm)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7.5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= 3.33x</a:t>
                          </a:r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M=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= 2.4x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6786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2227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E1CFF0-7859-85A9-D7F2-B6B3750CFF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686299"/>
                  </p:ext>
                </p:extLst>
              </p:nvPr>
            </p:nvGraphicFramePr>
            <p:xfrm>
              <a:off x="1183587" y="99758"/>
              <a:ext cx="9478128" cy="63443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8417">
                      <a:extLst>
                        <a:ext uri="{9D8B030D-6E8A-4147-A177-3AD203B41FA5}">
                          <a16:colId xmlns:a16="http://schemas.microsoft.com/office/drawing/2014/main" val="1766654896"/>
                        </a:ext>
                      </a:extLst>
                    </a:gridCol>
                    <a:gridCol w="4030647">
                      <a:extLst>
                        <a:ext uri="{9D8B030D-6E8A-4147-A177-3AD203B41FA5}">
                          <a16:colId xmlns:a16="http://schemas.microsoft.com/office/drawing/2014/main" val="1091034849"/>
                        </a:ext>
                      </a:extLst>
                    </a:gridCol>
                    <a:gridCol w="2938545">
                      <a:extLst>
                        <a:ext uri="{9D8B030D-6E8A-4147-A177-3AD203B41FA5}">
                          <a16:colId xmlns:a16="http://schemas.microsoft.com/office/drawing/2014/main" val="3661779336"/>
                        </a:ext>
                      </a:extLst>
                    </a:gridCol>
                    <a:gridCol w="1800519">
                      <a:extLst>
                        <a:ext uri="{9D8B030D-6E8A-4147-A177-3AD203B41FA5}">
                          <a16:colId xmlns:a16="http://schemas.microsoft.com/office/drawing/2014/main" val="4145426841"/>
                        </a:ext>
                      </a:extLst>
                    </a:gridCol>
                  </a:tblGrid>
                  <a:tr h="134988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MO/Achromatic doublet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1618" t="-2252" r="-62241" b="-37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Magnification</a:t>
                          </a:r>
                        </a:p>
                        <a:p>
                          <a:r>
                            <a:rPr lang="en-US" dirty="0"/>
                            <a:t>M = M(1) x M(2)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616314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RMS20X MO (EFL= , WD= , NA= ) , M(1) = 20X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 (f= 25 mm, d= 25.4 mm), M(2) = 2.016x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or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6mm, )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M(2) = 1.5x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= 40.32x</a:t>
                          </a:r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M = 30x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9348773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RMS10X MO ( EFL= 18 mm, WD = 10.6 mm, NA= 0.25) , M(1) = 10x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 ( f= 100 mm, d= 12.7 mm), M(2) = 2.016x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  or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6mm, )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M(2) = 1.5x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= 20.16x</a:t>
                          </a:r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M = 15x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1378130"/>
                      </a:ext>
                    </a:extLst>
                  </a:tr>
                  <a:tr h="142322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AC050-008-A ( Achromatic Lens, f=7.5 mm, d = 5mm)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LA1951 ( f= 25 mm, d= 25.4 mm), </a:t>
                          </a:r>
                        </a:p>
                        <a:p>
                          <a:r>
                            <a:rPr lang="en-US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LA1470 (f=12 mm, d= 6mm)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7458" t="-321368" r="-1695" b="-3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6786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2227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6085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59115-12D4-E909-D959-81BBDB50030D}"/>
              </a:ext>
            </a:extLst>
          </p:cNvPr>
          <p:cNvSpPr txBox="1"/>
          <p:nvPr/>
        </p:nvSpPr>
        <p:spPr>
          <a:xfrm>
            <a:off x="0" y="0"/>
            <a:ext cx="869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 </a:t>
            </a:r>
            <a:r>
              <a:rPr lang="en-US" b="1" u="sng" dirty="0"/>
              <a:t>AC050-008-A Holder</a:t>
            </a:r>
            <a:r>
              <a:rPr lang="en-US" dirty="0"/>
              <a:t>: A lens adapter </a:t>
            </a:r>
            <a:r>
              <a:rPr lang="en-US" dirty="0">
                <a:highlight>
                  <a:srgbClr val="FFFF00"/>
                </a:highlight>
              </a:rPr>
              <a:t>S1TM09 </a:t>
            </a:r>
            <a:r>
              <a:rPr lang="en-US" dirty="0"/>
              <a:t>need to be used to fit inside the </a:t>
            </a:r>
            <a:r>
              <a:rPr lang="en-US" dirty="0">
                <a:highlight>
                  <a:srgbClr val="FFFF00"/>
                </a:highlight>
              </a:rPr>
              <a:t>LMR1/M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48D60-42E2-B800-6A46-CB064CE70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332"/>
            <a:ext cx="6252287" cy="3778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8A219-4B1C-2581-1CB3-E1B148704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87" y="369332"/>
            <a:ext cx="5579287" cy="38811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1C3502-7A28-5B19-0476-7295EE3E9357}"/>
              </a:ext>
            </a:extLst>
          </p:cNvPr>
          <p:cNvSpPr txBox="1"/>
          <p:nvPr/>
        </p:nvSpPr>
        <p:spPr>
          <a:xfrm>
            <a:off x="1451728" y="4065817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S1TM09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8FD03-2CB1-1668-F651-A71768844483}"/>
              </a:ext>
            </a:extLst>
          </p:cNvPr>
          <p:cNvSpPr txBox="1"/>
          <p:nvPr/>
        </p:nvSpPr>
        <p:spPr>
          <a:xfrm>
            <a:off x="8408709" y="4065817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LMR1/M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6F10B7-2616-26C7-206D-A27B68B59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0" r="4241"/>
          <a:stretch>
            <a:fillRect/>
          </a:stretch>
        </p:blipFill>
        <p:spPr>
          <a:xfrm>
            <a:off x="2539129" y="3942241"/>
            <a:ext cx="2532492" cy="25464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E767A5-4878-3032-187A-5A09E6E899C0}"/>
              </a:ext>
            </a:extLst>
          </p:cNvPr>
          <p:cNvSpPr txBox="1"/>
          <p:nvPr/>
        </p:nvSpPr>
        <p:spPr>
          <a:xfrm>
            <a:off x="4129524" y="5771635"/>
            <a:ext cx="4783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dimension of Mounted AC05-008-A lens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F1269-E113-F97F-65FE-212B93A49E9A}"/>
              </a:ext>
            </a:extLst>
          </p:cNvPr>
          <p:cNvSpPr txBox="1"/>
          <p:nvPr/>
        </p:nvSpPr>
        <p:spPr>
          <a:xfrm>
            <a:off x="6637" y="4435149"/>
            <a:ext cx="2532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5"/>
              </a:rPr>
              <a:t>https://www.thorlabs.com/item/AC050-008-A-ML</a:t>
            </a:r>
            <a:r>
              <a:rPr lang="en-US" sz="1400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E0749-A358-8B0D-011C-A443D6E0CAAB}"/>
              </a:ext>
            </a:extLst>
          </p:cNvPr>
          <p:cNvSpPr txBox="1"/>
          <p:nvPr/>
        </p:nvSpPr>
        <p:spPr>
          <a:xfrm>
            <a:off x="7324212" y="4353633"/>
            <a:ext cx="418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https://www.thorlabs.com/item/LMR1_M</a:t>
            </a:r>
            <a:r>
              <a:rPr lang="en-US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726E7-603F-8912-1FA7-5106422440A3}"/>
              </a:ext>
            </a:extLst>
          </p:cNvPr>
          <p:cNvSpPr txBox="1"/>
          <p:nvPr/>
        </p:nvSpPr>
        <p:spPr>
          <a:xfrm>
            <a:off x="4172939" y="6059451"/>
            <a:ext cx="410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https://www.thorlabs.com/item/S1TM09</a:t>
            </a:r>
            <a:r>
              <a:rPr lang="en-US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692846-49F4-0F8C-D5DB-D603E5016E48}"/>
              </a:ext>
            </a:extLst>
          </p:cNvPr>
          <p:cNvSpPr/>
          <p:nvPr/>
        </p:nvSpPr>
        <p:spPr>
          <a:xfrm>
            <a:off x="8776355" y="612742"/>
            <a:ext cx="1781666" cy="58446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EC8CC2-2E72-FC5B-9D94-36A95A32F1CC}"/>
              </a:ext>
            </a:extLst>
          </p:cNvPr>
          <p:cNvSpPr/>
          <p:nvPr/>
        </p:nvSpPr>
        <p:spPr>
          <a:xfrm>
            <a:off x="6637" y="612742"/>
            <a:ext cx="917190" cy="3864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1E71F4-B1DF-F398-B719-44F829A9ACF6}"/>
              </a:ext>
            </a:extLst>
          </p:cNvPr>
          <p:cNvSpPr/>
          <p:nvPr/>
        </p:nvSpPr>
        <p:spPr>
          <a:xfrm>
            <a:off x="4581427" y="4722965"/>
            <a:ext cx="496831" cy="4734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75916D-402B-AD23-AD61-5DE189535569}"/>
              </a:ext>
            </a:extLst>
          </p:cNvPr>
          <p:cNvSpPr/>
          <p:nvPr/>
        </p:nvSpPr>
        <p:spPr>
          <a:xfrm>
            <a:off x="5731497" y="1753386"/>
            <a:ext cx="520790" cy="3864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D66D28-0B9B-3D64-CE02-F1CB6C705FBD}"/>
              </a:ext>
            </a:extLst>
          </p:cNvPr>
          <p:cNvSpPr txBox="1"/>
          <p:nvPr/>
        </p:nvSpPr>
        <p:spPr>
          <a:xfrm>
            <a:off x="235671" y="131976"/>
            <a:ext cx="9463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 LA1951 holder : The compatible lens mount for LA1951 is LMR1/M with SM1RRC retaining ring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417B2-96F5-6709-3A07-90E6AAF42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" r="59497"/>
          <a:stretch>
            <a:fillRect/>
          </a:stretch>
        </p:blipFill>
        <p:spPr>
          <a:xfrm>
            <a:off x="0" y="435319"/>
            <a:ext cx="2975473" cy="388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74B9E-274E-A3A9-0F4A-019FC990F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79" y="687236"/>
            <a:ext cx="3298472" cy="3111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682AC6-13B5-4710-4ABE-569687AA5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753" y="501308"/>
            <a:ext cx="5579287" cy="38811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30E32-1066-626A-7920-3CE45213DCFA}"/>
              </a:ext>
            </a:extLst>
          </p:cNvPr>
          <p:cNvSpPr txBox="1"/>
          <p:nvPr/>
        </p:nvSpPr>
        <p:spPr>
          <a:xfrm>
            <a:off x="202303" y="3984930"/>
            <a:ext cx="409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https://www.thorlabs.com/item/LA1951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AFDB5-95FE-4F44-53D6-FE44342242BE}"/>
              </a:ext>
            </a:extLst>
          </p:cNvPr>
          <p:cNvSpPr txBox="1"/>
          <p:nvPr/>
        </p:nvSpPr>
        <p:spPr>
          <a:xfrm>
            <a:off x="6770803" y="435426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6"/>
              </a:rPr>
              <a:t>https://www.thorlabs.com/item/LMR1_M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773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8B8564-6130-BB73-D60F-610DD8D61A48}"/>
              </a:ext>
            </a:extLst>
          </p:cNvPr>
          <p:cNvSpPr txBox="1"/>
          <p:nvPr/>
        </p:nvSpPr>
        <p:spPr>
          <a:xfrm>
            <a:off x="0" y="0"/>
            <a:ext cx="1199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 RMS10X or RMS20X holder: To hold a microscope objective with a beamsplitter at 45 deg a microscope adapter </a:t>
            </a:r>
            <a:r>
              <a:rPr lang="en-US" dirty="0">
                <a:highlight>
                  <a:srgbClr val="FFFF00"/>
                </a:highlight>
              </a:rPr>
              <a:t>M1RMSS</a:t>
            </a:r>
          </a:p>
          <a:p>
            <a:r>
              <a:rPr lang="en-US" dirty="0"/>
              <a:t> need to be screw with </a:t>
            </a:r>
            <a:r>
              <a:rPr lang="en-US" dirty="0">
                <a:highlight>
                  <a:srgbClr val="FFFF00"/>
                </a:highlight>
              </a:rPr>
              <a:t>KCB1/M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33A258-7653-D883-8801-ACCC875A6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" y="646331"/>
            <a:ext cx="8302772" cy="2785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DA28F3-A198-53D7-16C9-1205909D7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"/>
          <a:stretch>
            <a:fillRect/>
          </a:stretch>
        </p:blipFill>
        <p:spPr>
          <a:xfrm>
            <a:off x="16812" y="3361837"/>
            <a:ext cx="6459648" cy="34961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60DA38-3A43-00A6-3211-7E225C8F866F}"/>
              </a:ext>
            </a:extLst>
          </p:cNvPr>
          <p:cNvSpPr/>
          <p:nvPr/>
        </p:nvSpPr>
        <p:spPr>
          <a:xfrm>
            <a:off x="1569668" y="6360736"/>
            <a:ext cx="3638747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B22457-1D4D-4BA3-06BE-C04DF62AA33B}"/>
              </a:ext>
            </a:extLst>
          </p:cNvPr>
          <p:cNvSpPr/>
          <p:nvPr/>
        </p:nvSpPr>
        <p:spPr>
          <a:xfrm>
            <a:off x="4672068" y="4218519"/>
            <a:ext cx="1849940" cy="2422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CAE5C4-CC8A-0F12-B4C1-F35FA566D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6"/>
          <a:stretch>
            <a:fillRect/>
          </a:stretch>
        </p:blipFill>
        <p:spPr>
          <a:xfrm>
            <a:off x="6808438" y="2909941"/>
            <a:ext cx="5182456" cy="29088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C2FCCB-CC15-937A-7C92-17535E8BABA5}"/>
              </a:ext>
            </a:extLst>
          </p:cNvPr>
          <p:cNvSpPr/>
          <p:nvPr/>
        </p:nvSpPr>
        <p:spPr>
          <a:xfrm>
            <a:off x="10963373" y="5410986"/>
            <a:ext cx="1027521" cy="3393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535459-2F75-5D84-A215-3A2346F9A238}"/>
              </a:ext>
            </a:extLst>
          </p:cNvPr>
          <p:cNvSpPr/>
          <p:nvPr/>
        </p:nvSpPr>
        <p:spPr>
          <a:xfrm>
            <a:off x="4533435" y="3041323"/>
            <a:ext cx="915258" cy="307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2AF142-A65D-E213-29CB-9A4504FB9FB8}"/>
              </a:ext>
            </a:extLst>
          </p:cNvPr>
          <p:cNvSpPr/>
          <p:nvPr/>
        </p:nvSpPr>
        <p:spPr>
          <a:xfrm>
            <a:off x="3740686" y="3383048"/>
            <a:ext cx="2811188" cy="744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3C37C-BFCE-CB3E-5566-F4F2A8747AAB}"/>
              </a:ext>
            </a:extLst>
          </p:cNvPr>
          <p:cNvSpPr/>
          <p:nvPr/>
        </p:nvSpPr>
        <p:spPr>
          <a:xfrm>
            <a:off x="75414" y="2941163"/>
            <a:ext cx="1093509" cy="50904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7B638-6AFC-BC08-DC1F-BCE212EAF8DD}"/>
              </a:ext>
            </a:extLst>
          </p:cNvPr>
          <p:cNvSpPr txBox="1"/>
          <p:nvPr/>
        </p:nvSpPr>
        <p:spPr>
          <a:xfrm>
            <a:off x="6530532" y="697673"/>
            <a:ext cx="233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of M1RMSS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23112-F630-008B-0C78-8A570BFF6F9D}"/>
              </a:ext>
            </a:extLst>
          </p:cNvPr>
          <p:cNvSpPr txBox="1"/>
          <p:nvPr/>
        </p:nvSpPr>
        <p:spPr>
          <a:xfrm>
            <a:off x="6849774" y="923330"/>
            <a:ext cx="418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https://www.thorlabs.com/item/M1RMSS</a:t>
            </a:r>
            <a:r>
              <a:rPr lang="en-US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210D4-1A99-C9FF-A6A6-54C770BB3808}"/>
              </a:ext>
            </a:extLst>
          </p:cNvPr>
          <p:cNvSpPr txBox="1"/>
          <p:nvPr/>
        </p:nvSpPr>
        <p:spPr>
          <a:xfrm>
            <a:off x="4226800" y="4232635"/>
            <a:ext cx="225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of KCB1/M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F5A6F-85B8-02F3-82E3-D547A57011B1}"/>
              </a:ext>
            </a:extLst>
          </p:cNvPr>
          <p:cNvSpPr txBox="1"/>
          <p:nvPr/>
        </p:nvSpPr>
        <p:spPr>
          <a:xfrm>
            <a:off x="4226800" y="4478575"/>
            <a:ext cx="2811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6"/>
              </a:rPr>
              <a:t>https://www.thorlabs.com/item/KCB1_M</a:t>
            </a:r>
            <a:r>
              <a:rPr lang="en-US" sz="1600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D0F2AE-F023-175F-1A0C-AEDB866A1D89}"/>
              </a:ext>
            </a:extLst>
          </p:cNvPr>
          <p:cNvSpPr txBox="1"/>
          <p:nvPr/>
        </p:nvSpPr>
        <p:spPr>
          <a:xfrm>
            <a:off x="7131096" y="5750351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of RMS10X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93645A-D93E-8FAA-B08F-5EC1B3093C05}"/>
              </a:ext>
            </a:extLst>
          </p:cNvPr>
          <p:cNvSpPr txBox="1"/>
          <p:nvPr/>
        </p:nvSpPr>
        <p:spPr>
          <a:xfrm>
            <a:off x="7131096" y="5991404"/>
            <a:ext cx="4118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https://www.thorlabs.com/item/RMS10X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0192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897BB9-7488-B5FD-161B-A8E7FF084D9A}"/>
              </a:ext>
            </a:extLst>
          </p:cNvPr>
          <p:cNvSpPr txBox="1"/>
          <p:nvPr/>
        </p:nvSpPr>
        <p:spPr>
          <a:xfrm>
            <a:off x="0" y="68226"/>
            <a:ext cx="12066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LA1134</a:t>
            </a:r>
            <a:r>
              <a:rPr lang="en-US" sz="1600" dirty="0"/>
              <a:t> Plano convex lens of diameter 25.4 mm and focal length 59.8 mm can be used as </a:t>
            </a:r>
            <a:r>
              <a:rPr lang="en-US" sz="1600" dirty="0" err="1"/>
              <a:t>collimater</a:t>
            </a:r>
            <a:r>
              <a:rPr lang="en-US" sz="1600" dirty="0"/>
              <a:t> to collimate the light beam from light source (</a:t>
            </a:r>
            <a:r>
              <a:rPr lang="en-US" sz="1400" dirty="0">
                <a:hlinkClick r:id="rId2"/>
              </a:rPr>
              <a:t>https://www.thorlabs.com/item/LA1134</a:t>
            </a:r>
            <a:r>
              <a:rPr lang="en-US" sz="1400" dirty="0"/>
              <a:t> </a:t>
            </a:r>
            <a:r>
              <a:rPr lang="en-US" sz="1600" dirty="0"/>
              <a:t>), any other small focal length produce large beam and some light beam gets clipped from AC050-008-A and for higher focal length , the f number will be large so numerical aperture small and  small cone of light beam will collect the collimating lens.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18106-097A-FBA6-4768-83FE16846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" t="1647" r="9401" b="9251"/>
          <a:stretch>
            <a:fillRect/>
          </a:stretch>
        </p:blipFill>
        <p:spPr>
          <a:xfrm>
            <a:off x="7004115" y="1214761"/>
            <a:ext cx="4204355" cy="2029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46A76-D7FC-56E3-3463-A76A03157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2" y="1136958"/>
            <a:ext cx="6048866" cy="2295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C4321B-778C-E652-D6EF-61ADA6EC3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3502851"/>
            <a:ext cx="3334495" cy="31713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B96A79-AE68-34F3-2142-04AE0DF49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230" y="3429000"/>
            <a:ext cx="3440555" cy="33607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C2591D-0F11-B645-AAFD-EA3FCE6990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062" y="3312942"/>
            <a:ext cx="3440556" cy="336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63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7413C4-6466-C69B-99E2-46A92A6C6A82}"/>
              </a:ext>
            </a:extLst>
          </p:cNvPr>
          <p:cNvSpPr txBox="1"/>
          <p:nvPr/>
        </p:nvSpPr>
        <p:spPr>
          <a:xfrm>
            <a:off x="101600" y="81280"/>
            <a:ext cx="643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Smartphone based Microscopic system equivalent optical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F03F7-3F60-8A76-5AEF-5314D36337D5}"/>
              </a:ext>
            </a:extLst>
          </p:cNvPr>
          <p:cNvSpPr txBox="1"/>
          <p:nvPr/>
        </p:nvSpPr>
        <p:spPr>
          <a:xfrm>
            <a:off x="101600" y="629920"/>
            <a:ext cx="11917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LA1540 as collecting lens </a:t>
            </a:r>
            <a:r>
              <a:rPr lang="en-US" dirty="0"/>
              <a:t>d=12.7mm, f= 14.9 mm</a:t>
            </a:r>
          </a:p>
          <a:p>
            <a:r>
              <a:rPr lang="en-US" dirty="0"/>
              <a:t>       Mount: LMR05/M   </a:t>
            </a:r>
            <a:r>
              <a:rPr lang="en-US" dirty="0">
                <a:hlinkClick r:id="rId2"/>
              </a:rPr>
              <a:t>https://www.thorlabs.com/item/LMR05_M</a:t>
            </a:r>
            <a:r>
              <a:rPr lang="en-US" dirty="0"/>
              <a:t> </a:t>
            </a:r>
          </a:p>
          <a:p>
            <a:endParaRPr lang="en-US" dirty="0"/>
          </a:p>
          <a:p>
            <a:pPr marL="342900" indent="-342900">
              <a:buAutoNum type="arabicPeriod" startAt="2"/>
            </a:pPr>
            <a:r>
              <a:rPr lang="en-US" dirty="0">
                <a:highlight>
                  <a:srgbClr val="FFFF00"/>
                </a:highlight>
              </a:rPr>
              <a:t>LA1470 as tube lens  </a:t>
            </a:r>
            <a:r>
              <a:rPr lang="en-US" dirty="0"/>
              <a:t>d= 6mm, f= 12mm </a:t>
            </a:r>
          </a:p>
          <a:p>
            <a:r>
              <a:rPr lang="en-US" dirty="0"/>
              <a:t>       Mount: LMRA6 (</a:t>
            </a:r>
            <a:r>
              <a:rPr lang="en-US" dirty="0">
                <a:hlinkClick r:id="rId3"/>
              </a:rPr>
              <a:t>https://www.thorlabs.com/item/LMRA6</a:t>
            </a:r>
            <a:r>
              <a:rPr lang="en-US" dirty="0"/>
              <a:t> ) and LMR05/M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3.  </a:t>
            </a:r>
            <a:r>
              <a:rPr lang="en-US" dirty="0">
                <a:highlight>
                  <a:srgbClr val="FFFF00"/>
                </a:highlight>
              </a:rPr>
              <a:t>AC050-008-A as objective lens </a:t>
            </a:r>
            <a:r>
              <a:rPr lang="en-US" dirty="0"/>
              <a:t>d=5mm, f= 7.5 (refer page number 10) </a:t>
            </a:r>
          </a:p>
        </p:txBody>
      </p:sp>
    </p:spTree>
    <p:extLst>
      <p:ext uri="{BB962C8B-B14F-4D97-AF65-F5344CB8AC3E}">
        <p14:creationId xmlns:p14="http://schemas.microsoft.com/office/powerpoint/2010/main" val="218678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ightbulb with solid fill">
            <a:extLst>
              <a:ext uri="{FF2B5EF4-FFF2-40B4-BE49-F238E27FC236}">
                <a16:creationId xmlns:a16="http://schemas.microsoft.com/office/drawing/2014/main" id="{C7D05AD4-53D6-389E-00AB-056742853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0149" y="3827400"/>
            <a:ext cx="767255" cy="76725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F504045-CAB5-4874-535F-F8DE5B205F07}"/>
              </a:ext>
            </a:extLst>
          </p:cNvPr>
          <p:cNvSpPr/>
          <p:nvPr/>
        </p:nvSpPr>
        <p:spPr>
          <a:xfrm rot="16200000">
            <a:off x="6840604" y="3144109"/>
            <a:ext cx="432079" cy="1921285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5CEE6FA-B5AB-5531-0A3D-93C642BBC3B5}"/>
              </a:ext>
            </a:extLst>
          </p:cNvPr>
          <p:cNvSpPr/>
          <p:nvPr/>
        </p:nvSpPr>
        <p:spPr>
          <a:xfrm>
            <a:off x="7806333" y="3391265"/>
            <a:ext cx="637416" cy="1659484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E509E-CA6B-90B4-7164-DAAFAE19B3A6}"/>
              </a:ext>
            </a:extLst>
          </p:cNvPr>
          <p:cNvSpPr/>
          <p:nvPr/>
        </p:nvSpPr>
        <p:spPr>
          <a:xfrm rot="19096681">
            <a:off x="8170444" y="3137734"/>
            <a:ext cx="176828" cy="182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7591EC8-8FFF-35F2-E23E-3287340CB418}"/>
              </a:ext>
            </a:extLst>
          </p:cNvPr>
          <p:cNvSpPr/>
          <p:nvPr/>
        </p:nvSpPr>
        <p:spPr>
          <a:xfrm rot="10800000">
            <a:off x="7841458" y="1722195"/>
            <a:ext cx="567167" cy="1802068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2305E-BCEA-A193-E97E-80D4594D938F}"/>
              </a:ext>
            </a:extLst>
          </p:cNvPr>
          <p:cNvSpPr/>
          <p:nvPr/>
        </p:nvSpPr>
        <p:spPr>
          <a:xfrm>
            <a:off x="7806334" y="824045"/>
            <a:ext cx="637416" cy="51628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62AAD-2BDD-7CF1-33CF-43AA814E1AAA}"/>
              </a:ext>
            </a:extLst>
          </p:cNvPr>
          <p:cNvSpPr/>
          <p:nvPr/>
        </p:nvSpPr>
        <p:spPr>
          <a:xfrm>
            <a:off x="7806333" y="5478705"/>
            <a:ext cx="602292" cy="443531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615185-C530-DFD4-1B72-33DE6324639C}"/>
              </a:ext>
            </a:extLst>
          </p:cNvPr>
          <p:cNvSpPr/>
          <p:nvPr/>
        </p:nvSpPr>
        <p:spPr>
          <a:xfrm>
            <a:off x="7440869" y="4863954"/>
            <a:ext cx="1346479" cy="71343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EFD1C0-65FA-B0E6-5B17-34A115B58F01}"/>
              </a:ext>
            </a:extLst>
          </p:cNvPr>
          <p:cNvSpPr/>
          <p:nvPr/>
        </p:nvSpPr>
        <p:spPr>
          <a:xfrm>
            <a:off x="7169563" y="1259890"/>
            <a:ext cx="1889090" cy="5210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961784-0BD7-30C0-1AD5-3849BBE05B39}"/>
              </a:ext>
            </a:extLst>
          </p:cNvPr>
          <p:cNvSpPr/>
          <p:nvPr/>
        </p:nvSpPr>
        <p:spPr>
          <a:xfrm>
            <a:off x="7297271" y="379419"/>
            <a:ext cx="1582270" cy="301922"/>
          </a:xfrm>
          <a:prstGeom prst="roundRect">
            <a:avLst>
              <a:gd name="adj" fmla="val 23893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F41148-51CE-BE55-B81A-C503CD53FCBF}"/>
              </a:ext>
            </a:extLst>
          </p:cNvPr>
          <p:cNvSpPr/>
          <p:nvPr/>
        </p:nvSpPr>
        <p:spPr>
          <a:xfrm>
            <a:off x="7491010" y="680106"/>
            <a:ext cx="1205593" cy="241241"/>
          </a:xfrm>
          <a:prstGeom prst="roundRect">
            <a:avLst>
              <a:gd name="adj" fmla="val 138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Delay 20">
            <a:extLst>
              <a:ext uri="{FF2B5EF4-FFF2-40B4-BE49-F238E27FC236}">
                <a16:creationId xmlns:a16="http://schemas.microsoft.com/office/drawing/2014/main" id="{3B49BB24-AD57-0905-4B8D-BCF6D9ED7CFF}"/>
              </a:ext>
            </a:extLst>
          </p:cNvPr>
          <p:cNvSpPr/>
          <p:nvPr/>
        </p:nvSpPr>
        <p:spPr>
          <a:xfrm rot="5400000">
            <a:off x="7979179" y="5272871"/>
            <a:ext cx="269853" cy="1734797"/>
          </a:xfrm>
          <a:prstGeom prst="flowChartDelay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E9EA1A9-2A64-C0FD-8582-4725828B009A}"/>
              </a:ext>
            </a:extLst>
          </p:cNvPr>
          <p:cNvSpPr/>
          <p:nvPr/>
        </p:nvSpPr>
        <p:spPr>
          <a:xfrm>
            <a:off x="7691345" y="5862796"/>
            <a:ext cx="867398" cy="142547"/>
          </a:xfrm>
          <a:custGeom>
            <a:avLst/>
            <a:gdLst>
              <a:gd name="csX0" fmla="*/ 0 w 867398"/>
              <a:gd name="csY0" fmla="*/ 102578 h 102578"/>
              <a:gd name="csX1" fmla="*/ 29911 w 867398"/>
              <a:gd name="csY1" fmla="*/ 68395 h 102578"/>
              <a:gd name="csX2" fmla="*/ 55548 w 867398"/>
              <a:gd name="csY2" fmla="*/ 55576 h 102578"/>
              <a:gd name="csX3" fmla="*/ 76913 w 867398"/>
              <a:gd name="csY3" fmla="*/ 42758 h 102578"/>
              <a:gd name="csX4" fmla="*/ 192281 w 867398"/>
              <a:gd name="csY4" fmla="*/ 8575 h 102578"/>
              <a:gd name="csX5" fmla="*/ 205099 w 867398"/>
              <a:gd name="csY5" fmla="*/ 29 h 102578"/>
              <a:gd name="csX6" fmla="*/ 247828 w 867398"/>
              <a:gd name="csY6" fmla="*/ 29939 h 102578"/>
              <a:gd name="csX7" fmla="*/ 264920 w 867398"/>
              <a:gd name="csY7" fmla="*/ 47031 h 102578"/>
              <a:gd name="csX8" fmla="*/ 290557 w 867398"/>
              <a:gd name="csY8" fmla="*/ 42758 h 102578"/>
              <a:gd name="csX9" fmla="*/ 337559 w 867398"/>
              <a:gd name="csY9" fmla="*/ 12847 h 102578"/>
              <a:gd name="csX10" fmla="*/ 350378 w 867398"/>
              <a:gd name="csY10" fmla="*/ 8575 h 102578"/>
              <a:gd name="csX11" fmla="*/ 410198 w 867398"/>
              <a:gd name="csY11" fmla="*/ 17120 h 102578"/>
              <a:gd name="csX12" fmla="*/ 427290 w 867398"/>
              <a:gd name="csY12" fmla="*/ 25666 h 102578"/>
              <a:gd name="csX13" fmla="*/ 448655 w 867398"/>
              <a:gd name="csY13" fmla="*/ 29939 h 102578"/>
              <a:gd name="csX14" fmla="*/ 542658 w 867398"/>
              <a:gd name="csY14" fmla="*/ 17120 h 102578"/>
              <a:gd name="csX15" fmla="*/ 581114 w 867398"/>
              <a:gd name="csY15" fmla="*/ 29939 h 102578"/>
              <a:gd name="csX16" fmla="*/ 593933 w 867398"/>
              <a:gd name="csY16" fmla="*/ 38485 h 102578"/>
              <a:gd name="csX17" fmla="*/ 709301 w 867398"/>
              <a:gd name="csY17" fmla="*/ 47031 h 102578"/>
              <a:gd name="csX18" fmla="*/ 807578 w 867398"/>
              <a:gd name="csY18" fmla="*/ 55576 h 102578"/>
              <a:gd name="csX19" fmla="*/ 816124 w 867398"/>
              <a:gd name="csY19" fmla="*/ 68395 h 102578"/>
              <a:gd name="csX20" fmla="*/ 828942 w 867398"/>
              <a:gd name="csY20" fmla="*/ 72668 h 102578"/>
              <a:gd name="csX21" fmla="*/ 846034 w 867398"/>
              <a:gd name="csY21" fmla="*/ 81214 h 102578"/>
              <a:gd name="csX22" fmla="*/ 867398 w 867398"/>
              <a:gd name="csY22" fmla="*/ 98305 h 102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67398" h="102578">
                <a:moveTo>
                  <a:pt x="0" y="102578"/>
                </a:moveTo>
                <a:cubicBezTo>
                  <a:pt x="4249" y="97266"/>
                  <a:pt x="21654" y="73900"/>
                  <a:pt x="29911" y="68395"/>
                </a:cubicBezTo>
                <a:cubicBezTo>
                  <a:pt x="37861" y="63095"/>
                  <a:pt x="47160" y="60151"/>
                  <a:pt x="55548" y="55576"/>
                </a:cubicBezTo>
                <a:cubicBezTo>
                  <a:pt x="62839" y="51599"/>
                  <a:pt x="69324" y="46131"/>
                  <a:pt x="76913" y="42758"/>
                </a:cubicBezTo>
                <a:cubicBezTo>
                  <a:pt x="132113" y="18225"/>
                  <a:pt x="132985" y="21280"/>
                  <a:pt x="192281" y="8575"/>
                </a:cubicBezTo>
                <a:cubicBezTo>
                  <a:pt x="196554" y="5726"/>
                  <a:pt x="199989" y="-482"/>
                  <a:pt x="205099" y="29"/>
                </a:cubicBezTo>
                <a:cubicBezTo>
                  <a:pt x="235449" y="3063"/>
                  <a:pt x="232511" y="12434"/>
                  <a:pt x="247828" y="29939"/>
                </a:cubicBezTo>
                <a:cubicBezTo>
                  <a:pt x="253134" y="36003"/>
                  <a:pt x="259223" y="41334"/>
                  <a:pt x="264920" y="47031"/>
                </a:cubicBezTo>
                <a:cubicBezTo>
                  <a:pt x="273466" y="45607"/>
                  <a:pt x="282718" y="46447"/>
                  <a:pt x="290557" y="42758"/>
                </a:cubicBezTo>
                <a:cubicBezTo>
                  <a:pt x="307360" y="34850"/>
                  <a:pt x="319941" y="18718"/>
                  <a:pt x="337559" y="12847"/>
                </a:cubicBezTo>
                <a:lnTo>
                  <a:pt x="350378" y="8575"/>
                </a:lnTo>
                <a:cubicBezTo>
                  <a:pt x="370318" y="11423"/>
                  <a:pt x="390535" y="12751"/>
                  <a:pt x="410198" y="17120"/>
                </a:cubicBezTo>
                <a:cubicBezTo>
                  <a:pt x="416416" y="18502"/>
                  <a:pt x="421247" y="23652"/>
                  <a:pt x="427290" y="25666"/>
                </a:cubicBezTo>
                <a:cubicBezTo>
                  <a:pt x="434180" y="27963"/>
                  <a:pt x="441533" y="28515"/>
                  <a:pt x="448655" y="29939"/>
                </a:cubicBezTo>
                <a:cubicBezTo>
                  <a:pt x="519843" y="19769"/>
                  <a:pt x="488488" y="23891"/>
                  <a:pt x="542658" y="17120"/>
                </a:cubicBezTo>
                <a:cubicBezTo>
                  <a:pt x="555477" y="21393"/>
                  <a:pt x="568641" y="24742"/>
                  <a:pt x="581114" y="29939"/>
                </a:cubicBezTo>
                <a:cubicBezTo>
                  <a:pt x="585854" y="31914"/>
                  <a:pt x="588843" y="37806"/>
                  <a:pt x="593933" y="38485"/>
                </a:cubicBezTo>
                <a:cubicBezTo>
                  <a:pt x="632156" y="43582"/>
                  <a:pt x="670862" y="43956"/>
                  <a:pt x="709301" y="47031"/>
                </a:cubicBezTo>
                <a:lnTo>
                  <a:pt x="807578" y="55576"/>
                </a:lnTo>
                <a:cubicBezTo>
                  <a:pt x="810427" y="59849"/>
                  <a:pt x="812114" y="65187"/>
                  <a:pt x="816124" y="68395"/>
                </a:cubicBezTo>
                <a:cubicBezTo>
                  <a:pt x="819641" y="71209"/>
                  <a:pt x="824802" y="70894"/>
                  <a:pt x="828942" y="72668"/>
                </a:cubicBezTo>
                <a:cubicBezTo>
                  <a:pt x="834797" y="75177"/>
                  <a:pt x="840632" y="77838"/>
                  <a:pt x="846034" y="81214"/>
                </a:cubicBezTo>
                <a:cubicBezTo>
                  <a:pt x="858503" y="89007"/>
                  <a:pt x="859853" y="90760"/>
                  <a:pt x="867398" y="98305"/>
                </a:cubicBezTo>
              </a:path>
            </a:pathLst>
          </a:cu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C97E6-988E-CDAD-B941-085D966900EE}"/>
              </a:ext>
            </a:extLst>
          </p:cNvPr>
          <p:cNvSpPr txBox="1"/>
          <p:nvPr/>
        </p:nvSpPr>
        <p:spPr>
          <a:xfrm>
            <a:off x="9235084" y="454713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722B3A-3E95-1D43-DE4E-92FDC0F591CC}"/>
              </a:ext>
            </a:extLst>
          </p:cNvPr>
          <p:cNvSpPr txBox="1"/>
          <p:nvPr/>
        </p:nvSpPr>
        <p:spPr>
          <a:xfrm>
            <a:off x="9235084" y="1352863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C03DD2-337B-452D-CF03-69D2224148BD}"/>
              </a:ext>
            </a:extLst>
          </p:cNvPr>
          <p:cNvSpPr txBox="1"/>
          <p:nvPr/>
        </p:nvSpPr>
        <p:spPr>
          <a:xfrm>
            <a:off x="9024482" y="4181162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F8D4EC-E42B-02CE-CA84-EC9C59F93977}"/>
              </a:ext>
            </a:extLst>
          </p:cNvPr>
          <p:cNvSpPr txBox="1"/>
          <p:nvPr/>
        </p:nvSpPr>
        <p:spPr>
          <a:xfrm>
            <a:off x="8933398" y="5263978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704207-424A-34BD-5D04-4283040CEA0E}"/>
              </a:ext>
            </a:extLst>
          </p:cNvPr>
          <p:cNvSpPr txBox="1"/>
          <p:nvPr/>
        </p:nvSpPr>
        <p:spPr>
          <a:xfrm>
            <a:off x="5794314" y="3368870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0EFCD4-7A3E-2E97-AC2F-DF9D75512AD1}"/>
              </a:ext>
            </a:extLst>
          </p:cNvPr>
          <p:cNvSpPr txBox="1"/>
          <p:nvPr/>
        </p:nvSpPr>
        <p:spPr>
          <a:xfrm>
            <a:off x="6096000" y="5871376"/>
            <a:ext cx="87556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Sample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36A04855-DDD8-9247-D3BD-11A18949C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70" y="504729"/>
            <a:ext cx="3560373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8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1196</Words>
  <Application>Microsoft Office PowerPoint</Application>
  <PresentationFormat>Widescreen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3</cp:revision>
  <dcterms:created xsi:type="dcterms:W3CDTF">2026-07-29T10:20:55Z</dcterms:created>
  <dcterms:modified xsi:type="dcterms:W3CDTF">2026-08-19T11:24:45Z</dcterms:modified>
</cp:coreProperties>
</file>