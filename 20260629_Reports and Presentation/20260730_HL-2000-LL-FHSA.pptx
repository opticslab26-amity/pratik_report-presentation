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58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EF5EC5-F46C-4563-A47C-B52467221687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808A7C-B7FB-40E6-A77A-BA5E13916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274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08A7C-B7FB-40E6-A77A-BA5E13916C5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744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AEC2C-4E5E-D39B-62C1-19D3E5EAB3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0E55ED-8FE4-BF57-37D0-105321561D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BB0E8-91B3-D198-888C-E1A65B2B9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2AF8E-27A4-4970-AE4F-FF97C39B6D54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0D4B0-57C1-9105-46AC-03E2944C7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58E16-B217-CDD4-1A55-CCFBABD9A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992F1-B90F-496B-9A1A-E20624120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5042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42732-102F-8824-6368-9CDC649DC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BC452-1AF7-3B0A-542A-09496957B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1D461-C79B-5D60-C3F3-4120ED0E5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2AF8E-27A4-4970-AE4F-FF97C39B6D54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C5154-55D3-059F-F308-23ED84BC0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FB6EB-CE05-8BC7-9807-5D4E77B0C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992F1-B90F-496B-9A1A-E20624120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603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30C2B-F0AA-A889-1A49-057C79D5E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B91992-0FC7-7967-BE29-1D51480DD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74978-F2D3-7734-78D6-2A0DDF5DC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2AF8E-27A4-4970-AE4F-FF97C39B6D54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FA0ED-2085-A788-E1AA-BBDD40B7F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659B1-42AE-54BD-3BCB-8AA5F5B7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992F1-B90F-496B-9A1A-E20624120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61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83492-FA24-998C-7BA7-E83384495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02595-B92C-21A8-18CF-EDE14377E2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13CE3F-4F7B-5D4C-7FAE-215693E780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710480-E6E8-AC4A-2CD1-999E318D1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2AF8E-27A4-4970-AE4F-FF97C39B6D54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6CBC3-F068-6551-371D-BD225D4A8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05631-BCC6-51DA-C02F-C6BCCECB8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992F1-B90F-496B-9A1A-E20624120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055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7DBBF-1187-7575-AB90-26B48CDA7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C384AB-E7A5-61F3-61DB-1B46FF27F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C122CE-0DEE-1926-FD40-AC5BC2A5CA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C5D461-3BC6-AABA-3F93-5025A13EA7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7F09F4-D9DD-8DC0-84E1-33D83FF2D6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9B78A4-58D2-29DC-06A5-25F813A01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2AF8E-27A4-4970-AE4F-FF97C39B6D54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7C3C51-A3E9-874F-9DDA-9986C609C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D7357E-130E-2834-062A-1F83472AD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992F1-B90F-496B-9A1A-E20624120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112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DC041-20D0-A423-4FB2-B7DC3EDD8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014D6-2197-65FC-5DCA-BC2811171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2AF8E-27A4-4970-AE4F-FF97C39B6D54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18F2AA-0B56-3D20-7C53-60E17F60B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48B9D6-9FB7-B4F5-D9E7-BB2C7673C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992F1-B90F-496B-9A1A-E20624120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5051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49E303-169B-122F-F438-B920C5CCA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2AF8E-27A4-4970-AE4F-FF97C39B6D54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E54D7A-204E-F0B5-488F-0A04C463D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F421F-C7D7-C597-6092-E2015EB61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992F1-B90F-496B-9A1A-E20624120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3477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ECB35-03B7-2022-5172-7D289C9C0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A7F5D-4543-9ED4-B588-C4AFC97EB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45DCF8-F31A-29FA-1055-9DA9E76955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625311-E94F-1524-A300-FD1F2CC7A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2AF8E-27A4-4970-AE4F-FF97C39B6D54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CB048B-C548-3A15-C483-E5E8DEA00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382382-C4E4-3406-8B10-BB043017F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992F1-B90F-496B-9A1A-E20624120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129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6224B-3333-98DC-D09C-AC2C0CB9E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B236FE-DEFC-F67E-696E-25766E85C7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CC5A59-E8BB-A7D8-CEAC-8CEFDC4B9C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37D1AD-B3DF-8900-3D56-9134DB19C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2AF8E-27A4-4970-AE4F-FF97C39B6D54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FE60F5-9ECB-8257-3B67-80272737A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7953FB-E33A-2B7B-429D-777C7B3D8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992F1-B90F-496B-9A1A-E20624120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603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7EE01-660F-9B7A-BF44-D2086B8A3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B9E2A5-3A81-C1B0-AE80-28C4F5A1B0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F9F30-97B7-1A42-9954-1328D86A4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2AF8E-27A4-4970-AE4F-FF97C39B6D54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71CEA-7DBB-5286-16C0-30143C3C8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79D912-AA17-AE78-58DE-13113B7E3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992F1-B90F-496B-9A1A-E20624120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34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360A44-B3D6-6CD5-207C-80E0433DB0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0F059A-292A-B424-AE80-AB055AAD4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D367D-B575-2EA0-8241-CA13C1427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2AF8E-27A4-4970-AE4F-FF97C39B6D54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A76E1-CDC5-6A42-54C2-0D0F18FB1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FE509-9CC0-A81B-66D7-552E4BFB3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992F1-B90F-496B-9A1A-E20624120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22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924244-474D-639D-4D4D-FA5A9687A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C00A1-E47B-4729-5170-2EE6FEBFB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7458E-C783-4349-C2D5-28C3201B90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92AF8E-27A4-4970-AE4F-FF97C39B6D54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7F14B-50AE-3CDA-F5D2-51E2263869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64CC8-EA44-67DA-1346-7E7CD49A3C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C992F1-B90F-496B-9A1A-E206241208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308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A46E9-356A-2DA7-BEE7-08E3D8BCA7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2310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IN" dirty="0"/>
              <a:t>HL-2000-LL-FHSA/</a:t>
            </a:r>
            <a:br>
              <a:rPr lang="en-IN" dirty="0"/>
            </a:br>
            <a:r>
              <a:rPr lang="en-IN" b="1" dirty="0"/>
              <a:t>HL-2000-LL/</a:t>
            </a:r>
            <a:br>
              <a:rPr lang="en-IN" b="1" dirty="0"/>
            </a:br>
            <a:r>
              <a:rPr lang="en-IN" b="1" dirty="0"/>
              <a:t>HL-2000-HP/</a:t>
            </a:r>
            <a:br>
              <a:rPr lang="en-IN" b="1" dirty="0"/>
            </a:br>
            <a:r>
              <a:rPr lang="en-IN" b="1" dirty="0"/>
              <a:t>HL-2000-HP-FHSA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F28F5D-6022-94FF-013D-1BD1617D1B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6029" y="4701495"/>
            <a:ext cx="9144000" cy="1655762"/>
          </a:xfrm>
        </p:spPr>
        <p:txBody>
          <a:bodyPr/>
          <a:lstStyle/>
          <a:p>
            <a:r>
              <a:rPr lang="en-IN" dirty="0"/>
              <a:t>Ocean Optics Spectrometer Illuminator</a:t>
            </a:r>
          </a:p>
        </p:txBody>
      </p:sp>
    </p:spTree>
    <p:extLst>
      <p:ext uri="{BB962C8B-B14F-4D97-AF65-F5344CB8AC3E}">
        <p14:creationId xmlns:p14="http://schemas.microsoft.com/office/powerpoint/2010/main" val="2417195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D761D-B216-5816-B02A-7F4E592EE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62" y="269457"/>
            <a:ext cx="11549214" cy="1325563"/>
          </a:xfrm>
        </p:spPr>
        <p:txBody>
          <a:bodyPr>
            <a:normAutofit/>
          </a:bodyPr>
          <a:lstStyle/>
          <a:p>
            <a:pPr algn="just"/>
            <a:r>
              <a:rPr lang="en-IN" sz="2800" b="1" dirty="0"/>
              <a:t>Title: </a:t>
            </a:r>
            <a:r>
              <a:rPr lang="en-US" sz="2400" b="1" dirty="0"/>
              <a:t>A high-frequency surface-micromachined optical ultrasound transducer (SMOUT) array for 3D micro photoacoustic computed tomography (µPACT) </a:t>
            </a:r>
            <a:endParaRPr lang="en-IN" sz="4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E10586-7E06-214B-4310-CF97B16FB77C}"/>
              </a:ext>
            </a:extLst>
          </p:cNvPr>
          <p:cNvSpPr txBox="1"/>
          <p:nvPr/>
        </p:nvSpPr>
        <p:spPr>
          <a:xfrm>
            <a:off x="5050971" y="0"/>
            <a:ext cx="158931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Paper 1</a:t>
            </a:r>
            <a:br>
              <a:rPr lang="en-IN" sz="4400" dirty="0"/>
            </a:b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F2AC66-7460-28C6-57DB-057413E09D4A}"/>
              </a:ext>
            </a:extLst>
          </p:cNvPr>
          <p:cNvSpPr txBox="1"/>
          <p:nvPr/>
        </p:nvSpPr>
        <p:spPr>
          <a:xfrm>
            <a:off x="211217" y="1299401"/>
            <a:ext cx="11523759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dirty="0"/>
              <a:t>Objective of the paper (with Sample): </a:t>
            </a:r>
            <a:r>
              <a:rPr lang="en-US" dirty="0"/>
              <a:t>The main objective of this work is to develop and validate a 2D high-frequency surface-micromachined optical ultrasound transducer (HF-SMOUT) array for micro-photoacoustic computed tomography (µPACT). To evaluate the 3D imaging capability and spatial resolution of the HF-SMOUT array human hair is used</a:t>
            </a:r>
            <a:r>
              <a:rPr lang="en-IN" dirty="0"/>
              <a:t>.</a:t>
            </a:r>
            <a:endParaRPr lang="en-IN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428603-73C7-E104-B4F5-61B7E6E29796}"/>
              </a:ext>
            </a:extLst>
          </p:cNvPr>
          <p:cNvSpPr txBox="1"/>
          <p:nvPr/>
        </p:nvSpPr>
        <p:spPr>
          <a:xfrm>
            <a:off x="98323" y="5934670"/>
            <a:ext cx="117495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 err="1"/>
              <a:t>doi</a:t>
            </a:r>
            <a:r>
              <a:rPr lang="en-IN" sz="1800" dirty="0"/>
              <a:t>/link:</a:t>
            </a:r>
            <a:r>
              <a:rPr lang="en-US" dirty="0"/>
              <a:t> Yan, Z., &amp; Zou, J. (2024, March). A high-frequency surface-micromachined optical ultrasound transducer (SMOUT) array for 3D micro photoacoustic computed tomography (µPACT). In </a:t>
            </a:r>
            <a:r>
              <a:rPr lang="en-US" i="1" dirty="0"/>
              <a:t>Photons Plus Ultrasound: Imaging and Sensing 2024</a:t>
            </a:r>
            <a:r>
              <a:rPr lang="en-US" dirty="0"/>
              <a:t> (Vol. 12842, pp. 11-16). SPIE.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ABC734-9419-2585-6099-B3EDF03EBFC4}"/>
              </a:ext>
            </a:extLst>
          </p:cNvPr>
          <p:cNvSpPr txBox="1"/>
          <p:nvPr/>
        </p:nvSpPr>
        <p:spPr>
          <a:xfrm>
            <a:off x="193307" y="249009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Layout (figure):</a:t>
            </a:r>
            <a:r>
              <a:rPr lang="en-IN" sz="2800" dirty="0"/>
              <a:t> </a:t>
            </a:r>
            <a:endParaRPr lang="en-IN" sz="11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73D65A-B7D0-D965-11AF-918A13A1E2D6}"/>
              </a:ext>
            </a:extLst>
          </p:cNvPr>
          <p:cNvSpPr txBox="1"/>
          <p:nvPr/>
        </p:nvSpPr>
        <p:spPr>
          <a:xfrm>
            <a:off x="5041139" y="2573729"/>
            <a:ext cx="6787768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Components used to make it </a:t>
            </a:r>
          </a:p>
          <a:p>
            <a:pPr algn="just"/>
            <a:r>
              <a:rPr lang="en-IN" sz="2000" dirty="0"/>
              <a:t>1. Collimate: Here </a:t>
            </a:r>
            <a:r>
              <a:rPr lang="en-IN" sz="2000" dirty="0" err="1"/>
              <a:t>fiber</a:t>
            </a:r>
            <a:r>
              <a:rPr lang="en-IN" sz="2000" dirty="0"/>
              <a:t>-coupled laser is used as light source to generate </a:t>
            </a:r>
            <a:r>
              <a:rPr lang="en-IN" sz="2000" dirty="0" err="1"/>
              <a:t>photacoustic</a:t>
            </a:r>
            <a:r>
              <a:rPr lang="en-IN" sz="2000" dirty="0"/>
              <a:t> (PA) wave and  </a:t>
            </a:r>
            <a:r>
              <a:rPr lang="en-US" sz="2000" dirty="0">
                <a:highlight>
                  <a:srgbClr val="00FFFF"/>
                </a:highlight>
              </a:rPr>
              <a:t>fiber collimator (F810APC-780, Thorlabs) </a:t>
            </a:r>
            <a:r>
              <a:rPr lang="en-US" sz="2000" dirty="0"/>
              <a:t>is used for collimation. And to have spatial resolution of the designed system, the  light source </a:t>
            </a:r>
            <a:r>
              <a:rPr lang="en-US" sz="2000" dirty="0">
                <a:highlight>
                  <a:srgbClr val="FFFF00"/>
                </a:highlight>
              </a:rPr>
              <a:t>HL-2000-LL</a:t>
            </a:r>
            <a:r>
              <a:rPr lang="en-US" sz="2000" dirty="0"/>
              <a:t> is used for imaging the hair.</a:t>
            </a:r>
            <a:br>
              <a:rPr lang="en-US" sz="2000" dirty="0"/>
            </a:br>
            <a:r>
              <a:rPr lang="en-IN" sz="2000" dirty="0"/>
              <a:t>2. To make it focus: A 10X objective lens is used for focusing the light to the sample.</a:t>
            </a:r>
          </a:p>
          <a:p>
            <a:pPr algn="just"/>
            <a:r>
              <a:rPr lang="en-IN" sz="2000" dirty="0"/>
              <a:t>3. A beam </a:t>
            </a:r>
            <a:r>
              <a:rPr lang="en-IN" sz="2000" dirty="0">
                <a:highlight>
                  <a:srgbClr val="00FFFF"/>
                </a:highlight>
              </a:rPr>
              <a:t>sampler </a:t>
            </a:r>
            <a:r>
              <a:rPr lang="en-US" sz="2000" dirty="0">
                <a:highlight>
                  <a:srgbClr val="00FFFF"/>
                </a:highlight>
              </a:rPr>
              <a:t>BSF10-A</a:t>
            </a:r>
            <a:r>
              <a:rPr lang="en-US" sz="2000" dirty="0"/>
              <a:t>, Thorlabs is used to reflect the light from sample to detector</a:t>
            </a:r>
            <a:r>
              <a:rPr lang="en-IN" sz="2000" dirty="0"/>
              <a:t> </a:t>
            </a:r>
          </a:p>
          <a:p>
            <a:pPr algn="just"/>
            <a:endParaRPr lang="en-IN" sz="2000" dirty="0"/>
          </a:p>
          <a:p>
            <a:endParaRPr lang="en-IN" sz="1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6360B9-3CFE-F473-A854-9751A8AE0E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21" r="9800"/>
          <a:stretch>
            <a:fillRect/>
          </a:stretch>
        </p:blipFill>
        <p:spPr>
          <a:xfrm>
            <a:off x="2015614" y="2739837"/>
            <a:ext cx="3035357" cy="317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672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F4F4C-971E-583E-FC4C-7666264F5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E11C7-004B-F525-D7B7-13CC3D921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952" y="457509"/>
            <a:ext cx="11514278" cy="716968"/>
          </a:xfrm>
        </p:spPr>
        <p:txBody>
          <a:bodyPr>
            <a:normAutofit fontScale="90000"/>
          </a:bodyPr>
          <a:lstStyle/>
          <a:p>
            <a:pPr algn="just"/>
            <a:r>
              <a:rPr lang="en-IN" sz="2700" b="1" dirty="0"/>
              <a:t>Title: </a:t>
            </a:r>
            <a:r>
              <a:rPr lang="en-US" sz="2200" b="1" dirty="0"/>
              <a:t>Highly sensitive image-derived indices of water stressed plants using hyperspectral imaging in SWIR and histogram analysis </a:t>
            </a: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7C1923-1C66-91E8-2941-443570C744C9}"/>
              </a:ext>
            </a:extLst>
          </p:cNvPr>
          <p:cNvSpPr txBox="1"/>
          <p:nvPr/>
        </p:nvSpPr>
        <p:spPr>
          <a:xfrm>
            <a:off x="5050970" y="0"/>
            <a:ext cx="207917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Paper 2</a:t>
            </a:r>
            <a:br>
              <a:rPr lang="en-IN" sz="4400" dirty="0"/>
            </a:b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68E1DE-A30D-81AF-C7C0-B70CCD4EB236}"/>
              </a:ext>
            </a:extLst>
          </p:cNvPr>
          <p:cNvSpPr txBox="1"/>
          <p:nvPr/>
        </p:nvSpPr>
        <p:spPr>
          <a:xfrm>
            <a:off x="274952" y="1159251"/>
            <a:ext cx="1151427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Objective of the paper (with Sample): To </a:t>
            </a:r>
            <a:r>
              <a:rPr lang="en-US" sz="2000" dirty="0"/>
              <a:t>develop a hyperspectral imaging system operating in the Short-Wave Infrared Region (SWIR) (800–1600 nm) with high spectral resolution (1.56 nm/pixel) to capture detailed water absorption characteristics of plant leaves.</a:t>
            </a:r>
            <a:r>
              <a:rPr lang="en-IN" sz="2000" dirty="0"/>
              <a:t> </a:t>
            </a:r>
            <a:endParaRPr lang="en-IN" sz="10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B7AAED-DFB8-F772-FB2B-967D1E2CE59A}"/>
              </a:ext>
            </a:extLst>
          </p:cNvPr>
          <p:cNvSpPr txBox="1"/>
          <p:nvPr/>
        </p:nvSpPr>
        <p:spPr>
          <a:xfrm>
            <a:off x="274952" y="238745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Layout (figure): </a:t>
            </a:r>
            <a:endParaRPr lang="en-IN" sz="10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FB7901-4856-1851-E41B-EC41239A0FA1}"/>
              </a:ext>
            </a:extLst>
          </p:cNvPr>
          <p:cNvSpPr txBox="1"/>
          <p:nvPr/>
        </p:nvSpPr>
        <p:spPr>
          <a:xfrm>
            <a:off x="4152723" y="2416508"/>
            <a:ext cx="792129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dirty="0"/>
              <a:t>Components used to make it </a:t>
            </a:r>
          </a:p>
          <a:p>
            <a:pPr marL="457200" indent="-457200" algn="just">
              <a:buAutoNum type="arabicPeriod"/>
            </a:pPr>
            <a:r>
              <a:rPr lang="en-IN" sz="2400" dirty="0"/>
              <a:t>Collimate: </a:t>
            </a:r>
            <a:r>
              <a:rPr lang="en-US" sz="2000" dirty="0"/>
              <a:t>A halogen lamp (7 W, Ocean Optics, </a:t>
            </a:r>
            <a:r>
              <a:rPr lang="en-US" sz="2000" dirty="0">
                <a:highlight>
                  <a:srgbClr val="00FFFF"/>
                </a:highlight>
              </a:rPr>
              <a:t>HL-2000</a:t>
            </a:r>
            <a:r>
              <a:rPr lang="en-US" sz="2000" dirty="0"/>
              <a:t>)    was coupled with a large-diameter NIR-rated optical fiber </a:t>
            </a:r>
            <a:r>
              <a:rPr lang="en-US" sz="2000" dirty="0">
                <a:highlight>
                  <a:srgbClr val="00FFFF"/>
                </a:highlight>
              </a:rPr>
              <a:t>Ø1000 µm, 0.39 NA</a:t>
            </a:r>
            <a:r>
              <a:rPr lang="en-US" sz="2000" dirty="0"/>
              <a:t>. The light through the sample was captured by another optical fiber (Ø400 µm, 0.48 NA, Thorlabs). No elements used for collimation is mentioned.</a:t>
            </a:r>
          </a:p>
          <a:p>
            <a:pPr algn="just"/>
            <a:endParaRPr lang="en-IN" sz="2400" dirty="0"/>
          </a:p>
          <a:p>
            <a:pPr algn="just"/>
            <a:r>
              <a:rPr lang="en-IN" sz="2400" dirty="0"/>
              <a:t>2. To make it focus</a:t>
            </a:r>
            <a:r>
              <a:rPr lang="en-IN" sz="2000" dirty="0"/>
              <a:t>: An </a:t>
            </a:r>
            <a:r>
              <a:rPr lang="en-US" sz="2000" dirty="0"/>
              <a:t>objective lens </a:t>
            </a:r>
            <a:r>
              <a:rPr lang="en-US" sz="2000" dirty="0" err="1">
                <a:highlight>
                  <a:srgbClr val="FFFF00"/>
                </a:highlight>
              </a:rPr>
              <a:t>UPLan</a:t>
            </a:r>
            <a:r>
              <a:rPr lang="en-US" sz="2000" dirty="0">
                <a:highlight>
                  <a:srgbClr val="FFFF00"/>
                </a:highlight>
              </a:rPr>
              <a:t> FLN 20x/0.50 (Olympus)  </a:t>
            </a:r>
            <a:r>
              <a:rPr lang="en-US" sz="2000" dirty="0"/>
              <a:t>is used for focusing the light on the sample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B4E9C8-A830-09A2-DDCE-4E40A924E9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26" y="2938211"/>
            <a:ext cx="3884510" cy="35643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F43DE2-3FFD-0F32-9E1A-32C6A3986739}"/>
              </a:ext>
            </a:extLst>
          </p:cNvPr>
          <p:cNvSpPr txBox="1"/>
          <p:nvPr/>
        </p:nvSpPr>
        <p:spPr>
          <a:xfrm>
            <a:off x="4074850" y="5698749"/>
            <a:ext cx="77143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600" dirty="0" err="1"/>
              <a:t>doi</a:t>
            </a:r>
            <a:r>
              <a:rPr lang="en-IN" sz="1600" dirty="0"/>
              <a:t>/link: </a:t>
            </a:r>
            <a:r>
              <a:rPr lang="en-US" sz="1600" dirty="0"/>
              <a:t>Kim, D. M., Zhang, H., Zhou, H., Du, T., Wu, Q., Mockler, T. C., &amp; Berezin, M. Y. SUPPLEMENTARY INFORMATION Highly sensitive image-derived indices of water-stressed plants using hyperspectral imaging in SWIR and histogram analysis.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681004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B906A-CC6C-8277-5D97-A4A3845B6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3FF29-22CC-CF14-6946-38FD71D8C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32" y="198992"/>
            <a:ext cx="11788878" cy="1325563"/>
          </a:xfrm>
        </p:spPr>
        <p:txBody>
          <a:bodyPr>
            <a:normAutofit/>
          </a:bodyPr>
          <a:lstStyle/>
          <a:p>
            <a:pPr algn="just"/>
            <a:r>
              <a:rPr lang="en-IN" sz="2800" b="1" dirty="0"/>
              <a:t>Title: </a:t>
            </a:r>
            <a:r>
              <a:rPr lang="en-US" sz="2000" b="1" dirty="0"/>
              <a:t>Detecting Cyanobacteria and Inorganic Contaminants in Water by Full Scattering Profile Optical    Spectroscopy</a:t>
            </a: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1F58E2-FFFE-F574-4CA4-02D87487EC61}"/>
              </a:ext>
            </a:extLst>
          </p:cNvPr>
          <p:cNvSpPr txBox="1"/>
          <p:nvPr/>
        </p:nvSpPr>
        <p:spPr>
          <a:xfrm>
            <a:off x="5050970" y="0"/>
            <a:ext cx="207917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Paper 3</a:t>
            </a:r>
            <a:br>
              <a:rPr lang="en-IN" sz="4400" dirty="0"/>
            </a:b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146D27-F759-14BD-217E-2151424AC75D}"/>
              </a:ext>
            </a:extLst>
          </p:cNvPr>
          <p:cNvSpPr txBox="1"/>
          <p:nvPr/>
        </p:nvSpPr>
        <p:spPr>
          <a:xfrm>
            <a:off x="245453" y="1184938"/>
            <a:ext cx="1185805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dirty="0"/>
              <a:t>Objective of the paper (with Sample): </a:t>
            </a:r>
            <a:r>
              <a:rPr lang="en-IN" sz="2000" dirty="0"/>
              <a:t>T</a:t>
            </a:r>
            <a:r>
              <a:rPr lang="en-US" sz="2000" dirty="0"/>
              <a:t>o develop and validate a label-free, real-time optical sensing method based on Full Scattering Profile (FSP) measurements and the Iso-Pathlength (IPL) phenomenon for the simultaneous detection and quantification of multiple water contaminants (cyanobacteria and heavy metals) in mixed samples</a:t>
            </a:r>
            <a:r>
              <a:rPr lang="en-US" sz="2400" dirty="0"/>
              <a:t>.</a:t>
            </a:r>
            <a:r>
              <a:rPr lang="en-IN" sz="2400" dirty="0"/>
              <a:t> </a:t>
            </a:r>
            <a:endParaRPr lang="en-IN" sz="10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601438-A11B-641E-D632-E4177AF2FEC8}"/>
              </a:ext>
            </a:extLst>
          </p:cNvPr>
          <p:cNvSpPr txBox="1"/>
          <p:nvPr/>
        </p:nvSpPr>
        <p:spPr>
          <a:xfrm>
            <a:off x="3197238" y="5230139"/>
            <a:ext cx="875878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 err="1"/>
              <a:t>doi</a:t>
            </a:r>
            <a:r>
              <a:rPr lang="en-IN" sz="1800" dirty="0"/>
              <a:t>/link: </a:t>
            </a:r>
            <a:r>
              <a:rPr lang="en-US" dirty="0"/>
              <a:t>Fixler, D., </a:t>
            </a:r>
            <a:r>
              <a:rPr lang="en-US" dirty="0" err="1"/>
              <a:t>Tzroya</a:t>
            </a:r>
            <a:r>
              <a:rPr lang="en-US" dirty="0"/>
              <a:t>, A., Ram, E., Ben-Gershon, G., Shemesh, B., Abu-Ghosh, S., ... &amp; </a:t>
            </a:r>
            <a:r>
              <a:rPr lang="en-US" dirty="0" err="1"/>
              <a:t>Duadi</a:t>
            </a:r>
            <a:r>
              <a:rPr lang="en-US" dirty="0"/>
              <a:t>, H. Detecting Cyanobacteria and Inorganic Contaminants in Water by Full Scattering Profile Optical Spectroscopy. </a:t>
            </a:r>
            <a:r>
              <a:rPr lang="en-US" i="1" dirty="0"/>
              <a:t>Available at SSRN 5829408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D74E2E-303A-C280-2F8B-EC588D594307}"/>
              </a:ext>
            </a:extLst>
          </p:cNvPr>
          <p:cNvSpPr txBox="1"/>
          <p:nvPr/>
        </p:nvSpPr>
        <p:spPr>
          <a:xfrm>
            <a:off x="314632" y="251050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Layout (figure): </a:t>
            </a:r>
            <a:endParaRPr lang="en-IN" sz="10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7A3D1B-0F0F-EF6E-7733-7A8EB8E17FE9}"/>
              </a:ext>
            </a:extLst>
          </p:cNvPr>
          <p:cNvSpPr txBox="1"/>
          <p:nvPr/>
        </p:nvSpPr>
        <p:spPr>
          <a:xfrm>
            <a:off x="3197238" y="2667558"/>
            <a:ext cx="8906271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Components used to make it </a:t>
            </a:r>
          </a:p>
          <a:p>
            <a:pPr algn="just"/>
            <a:r>
              <a:rPr lang="en-IN" sz="2400" dirty="0"/>
              <a:t>1. Collimate: </a:t>
            </a:r>
            <a:r>
              <a:rPr lang="en-US" sz="2000" dirty="0"/>
              <a:t>The light is coupled through a </a:t>
            </a:r>
            <a:r>
              <a:rPr lang="en-US" sz="2000" dirty="0">
                <a:highlight>
                  <a:srgbClr val="FFFF00"/>
                </a:highlight>
              </a:rPr>
              <a:t>multimode optical fiber (M59L02-1000um-0.5NA, Thorlabs)</a:t>
            </a:r>
            <a:r>
              <a:rPr lang="en-US" sz="2000" dirty="0"/>
              <a:t> and </a:t>
            </a:r>
            <a:r>
              <a:rPr lang="en-US" sz="2000" dirty="0">
                <a:highlight>
                  <a:srgbClr val="00FFFF"/>
                </a:highlight>
              </a:rPr>
              <a:t>collimated (F220SMA-532, Thorlabs</a:t>
            </a:r>
            <a:r>
              <a:rPr lang="en-US" sz="2000" dirty="0"/>
              <a:t>) before entering the medium. The collimated fiber coupling has 2.1 mm output beam diameter.</a:t>
            </a:r>
            <a:endParaRPr lang="en-IN" sz="2000" dirty="0"/>
          </a:p>
          <a:p>
            <a:endParaRPr lang="en-IN" sz="2000" dirty="0"/>
          </a:p>
          <a:p>
            <a:r>
              <a:rPr lang="en-IN" sz="2400" dirty="0"/>
              <a:t>2.  To make it focus: Not mentioned</a:t>
            </a:r>
            <a:endParaRPr lang="en-IN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280D08-1BB7-A00D-A6A9-985DA41AC6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232" y="3020433"/>
            <a:ext cx="2123768" cy="346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577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DEE22-2960-7199-0407-42EB74926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90DBF-0D0C-9646-527F-7AC6A063F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9" y="314632"/>
            <a:ext cx="10515600" cy="870616"/>
          </a:xfrm>
        </p:spPr>
        <p:txBody>
          <a:bodyPr>
            <a:normAutofit/>
          </a:bodyPr>
          <a:lstStyle/>
          <a:p>
            <a:r>
              <a:rPr lang="en-IN" sz="2800" b="1" dirty="0"/>
              <a:t>Title:</a:t>
            </a:r>
            <a:r>
              <a:rPr lang="en-US" b="1" dirty="0"/>
              <a:t> </a:t>
            </a:r>
            <a:r>
              <a:rPr lang="en-US" sz="2000" b="1" dirty="0"/>
              <a:t>Broadband spectroscopy for characterization of tissue-like phantom optical properties </a:t>
            </a: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BA7957-CF7E-6447-598F-8122FA1AEB60}"/>
              </a:ext>
            </a:extLst>
          </p:cNvPr>
          <p:cNvSpPr txBox="1"/>
          <p:nvPr/>
        </p:nvSpPr>
        <p:spPr>
          <a:xfrm>
            <a:off x="5050970" y="0"/>
            <a:ext cx="207917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Paper 4</a:t>
            </a:r>
            <a:br>
              <a:rPr lang="en-IN" sz="3200" dirty="0"/>
            </a:br>
            <a:endParaRPr lang="en-IN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1F268E-3461-D42F-2FE6-49026DB2E29C}"/>
              </a:ext>
            </a:extLst>
          </p:cNvPr>
          <p:cNvSpPr txBox="1"/>
          <p:nvPr/>
        </p:nvSpPr>
        <p:spPr>
          <a:xfrm>
            <a:off x="412601" y="1230514"/>
            <a:ext cx="1129361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dirty="0"/>
              <a:t>Objective of the paper (with Sample): </a:t>
            </a:r>
            <a:r>
              <a:rPr lang="en-US" sz="2000" dirty="0"/>
              <a:t>To characterize the optical properties of readily available, low-cost Parker black ink and Intralipid 20% as tissue-simulating absorbing and scattering materials for constructing biomedical optical phantoms in the visible spectral range .</a:t>
            </a:r>
            <a:r>
              <a:rPr lang="en-IN" sz="2000" dirty="0"/>
              <a:t> </a:t>
            </a:r>
            <a:endParaRPr lang="en-IN" sz="1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4AEBF-65A4-CCD3-0280-DC50595ADAA5}"/>
              </a:ext>
            </a:extLst>
          </p:cNvPr>
          <p:cNvSpPr txBox="1"/>
          <p:nvPr/>
        </p:nvSpPr>
        <p:spPr>
          <a:xfrm>
            <a:off x="485779" y="235299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Layout (figure): </a:t>
            </a:r>
            <a:endParaRPr lang="en-IN" sz="10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347B7D-BA7B-3B0E-F49C-3B12C1357CBE}"/>
              </a:ext>
            </a:extLst>
          </p:cNvPr>
          <p:cNvSpPr txBox="1"/>
          <p:nvPr/>
        </p:nvSpPr>
        <p:spPr>
          <a:xfrm>
            <a:off x="4354285" y="2382875"/>
            <a:ext cx="7483754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Components used to make it:</a:t>
            </a:r>
          </a:p>
          <a:p>
            <a:pPr algn="just"/>
            <a:r>
              <a:rPr lang="en-US" sz="2000" dirty="0"/>
              <a:t>It consists of broadband halogen tungsten light source </a:t>
            </a:r>
            <a:r>
              <a:rPr lang="en-US" sz="2000" dirty="0">
                <a:highlight>
                  <a:srgbClr val="00FFFF"/>
                </a:highlight>
              </a:rPr>
              <a:t>(HL-2000-HP-FHSA, </a:t>
            </a:r>
            <a:r>
              <a:rPr lang="en-US" sz="2000" dirty="0"/>
              <a:t>Ocean Optics Inc. FL), a fiber coupled cuvette holder with two collimating lenses (CUV-ATT-DA, </a:t>
            </a:r>
            <a:r>
              <a:rPr lang="en-US" sz="2000" dirty="0" err="1"/>
              <a:t>Avantes</a:t>
            </a:r>
            <a:r>
              <a:rPr lang="en-US" sz="2000" dirty="0"/>
              <a:t> Inc., Netherlands), and a USB portable spectrometer (USB4000 FL, Ocean Optics Inc.).</a:t>
            </a:r>
            <a:endParaRPr lang="en-IN" sz="2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68139CA-0651-379F-DB57-B2E5273D95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758" y="2950134"/>
            <a:ext cx="3468468" cy="369144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3E8BC4-DFE6-8824-A42A-8C14FD4B6192}"/>
              </a:ext>
            </a:extLst>
          </p:cNvPr>
          <p:cNvSpPr txBox="1"/>
          <p:nvPr/>
        </p:nvSpPr>
        <p:spPr>
          <a:xfrm>
            <a:off x="4572000" y="4670323"/>
            <a:ext cx="71342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Reference: Shahin, A., &amp; Bachir, W. (2017). Broadband spectroscopy for characterization of tissue-like phantom optical properties. </a:t>
            </a:r>
            <a:r>
              <a:rPr lang="en-US" i="1" dirty="0"/>
              <a:t>Polish Journal of Medical Physics and Engineering</a:t>
            </a:r>
            <a:r>
              <a:rPr lang="en-US" dirty="0"/>
              <a:t>, </a:t>
            </a:r>
            <a:r>
              <a:rPr lang="en-US" i="1" dirty="0"/>
              <a:t>23</a:t>
            </a:r>
            <a:r>
              <a:rPr lang="en-US" dirty="0"/>
              <a:t>(4), 121-126. </a:t>
            </a:r>
          </a:p>
        </p:txBody>
      </p:sp>
    </p:spTree>
    <p:extLst>
      <p:ext uri="{BB962C8B-B14F-4D97-AF65-F5344CB8AC3E}">
        <p14:creationId xmlns:p14="http://schemas.microsoft.com/office/powerpoint/2010/main" val="2121926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C669B-4211-C22B-BC7B-02E879CC1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Your Suggestion how to make it collimate up to which distance and whether it is applicable for our purpose?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4984F0-8992-0089-189D-636EC4D8C5ED}"/>
              </a:ext>
            </a:extLst>
          </p:cNvPr>
          <p:cNvSpPr txBox="1"/>
          <p:nvPr/>
        </p:nvSpPr>
        <p:spPr>
          <a:xfrm>
            <a:off x="157316" y="2064774"/>
            <a:ext cx="117987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Most of the people directly used optical fiber to couple the light beam from the light source for spectroscopic study. But in our case, we need a collimated beam. So, to have collimated light beam having 2-3 mm output beam diameter, F220SMA-532, Thorlabs will work well, if we use after the light source in our setup. </a:t>
            </a:r>
          </a:p>
        </p:txBody>
      </p:sp>
    </p:spTree>
    <p:extLst>
      <p:ext uri="{BB962C8B-B14F-4D97-AF65-F5344CB8AC3E}">
        <p14:creationId xmlns:p14="http://schemas.microsoft.com/office/powerpoint/2010/main" val="408749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933</TotalTime>
  <Words>889</Words>
  <Application>Microsoft Office PowerPoint</Application>
  <PresentationFormat>Widescreen</PresentationFormat>
  <Paragraphs>38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HL-2000-LL-FHSA/ HL-2000-LL/ HL-2000-HP/ HL-2000-HP-FHSA</vt:lpstr>
      <vt:lpstr>Title: A high-frequency surface-micromachined optical ultrasound transducer (SMOUT) array for 3D micro photoacoustic computed tomography (µPACT) </vt:lpstr>
      <vt:lpstr>Title: Highly sensitive image-derived indices of water stressed plants using hyperspectral imaging in SWIR and histogram analysis </vt:lpstr>
      <vt:lpstr>Title: Detecting Cyanobacteria and Inorganic Contaminants in Water by Full Scattering Profile Optical    Spectroscopy</vt:lpstr>
      <vt:lpstr>Title: Broadband spectroscopy for characterization of tissue-like phantom optical properties </vt:lpstr>
      <vt:lpstr>Your Suggestion how to make it collimate up to which distance and whether it is applicable for our purpose?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Suchandra Banerjee</dc:creator>
  <cp:lastModifiedBy>Pratik Dhar</cp:lastModifiedBy>
  <cp:revision>6</cp:revision>
  <dcterms:created xsi:type="dcterms:W3CDTF">2026-07-30T12:40:54Z</dcterms:created>
  <dcterms:modified xsi:type="dcterms:W3CDTF">2026-08-02T19:06:11Z</dcterms:modified>
</cp:coreProperties>
</file>