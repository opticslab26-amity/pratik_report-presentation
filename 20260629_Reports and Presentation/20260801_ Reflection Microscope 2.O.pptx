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5" r:id="rId6"/>
    <p:sldId id="266" r:id="rId7"/>
    <p:sldId id="267" r:id="rId8"/>
    <p:sldId id="268" r:id="rId9"/>
    <p:sldId id="25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19D0B"/>
    <a:srgbClr val="A7DEF7"/>
    <a:srgbClr val="FA9C68"/>
    <a:srgbClr val="3AEC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3F691B-4B4F-44D7-8F8C-CD1D25713E15}" v="29" dt="2026-07-31T20:02:48.7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0FB46-56A6-1D64-F22B-EA628AD9FC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EBDA0-0F4F-49DB-8D19-925FA2B22D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E7EB5-61D5-F73A-E148-C0AFC7CF9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4ECA-768F-4D32-85F9-5D33C4CD00DC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9E94A6-C874-F08A-931D-9B3931FA7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C7E2EF-9D07-7AC4-138E-0D7EFC55B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0F1C-9F2C-4889-9A43-F750929F7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983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1F592-7115-5510-2F08-D3C4E0A77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FF61F-7A2F-FF34-E387-69A155340E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34EC9-BA9C-2066-710B-D5F4604E4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4ECA-768F-4D32-85F9-5D33C4CD00DC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6BEEA-8723-CC6D-D1EF-AF9A8866D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E99AC-514F-87D7-8119-AF681C6DA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0F1C-9F2C-4889-9A43-F750929F7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531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CEE53-EFDB-DBA5-22F8-A85E88682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A4B83C-4853-61F9-FEA1-5658A71800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58A7E-0561-E885-DDE2-67934EBC0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4ECA-768F-4D32-85F9-5D33C4CD00DC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E8E27D-086E-ADAB-55EE-F03CC0D78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2BDD86-03DD-7008-4F79-EB8009B9F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0F1C-9F2C-4889-9A43-F750929F7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949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63E49-FE94-FB1C-85AB-2B15CD1BC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22D40-1984-8023-4857-DFA1C02AB3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80B61D-5411-5B17-6410-C407A02499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946FB0-0ABF-261A-10D6-B938DA240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4ECA-768F-4D32-85F9-5D33C4CD00DC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3690A2-2E82-7AC8-153C-23BAADB6F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2E1796-37DC-21BD-8699-AF36C92C1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0F1C-9F2C-4889-9A43-F750929F7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225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73CE4-8676-E5F4-B00C-0B6D757F0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08B42A-5310-6A1A-E9F6-7EA56D1D96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2D1CD1-4551-9FB6-35AC-73E193986D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50D073-400B-D8E8-B033-60417FB3A4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5D7153-5E3E-BE84-2F2F-800ABBBE4B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962683-B96D-D2DE-A5E3-C51A8172E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4ECA-768F-4D32-85F9-5D33C4CD00DC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D061BF-892F-5D4E-F01D-C2508EDD2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2A6083-A234-168E-FD89-7886A31C3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0F1C-9F2C-4889-9A43-F750929F7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775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498A6-354C-64C3-7328-382F44FE3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105680-9AE6-1DDD-4EAC-7296167C8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4ECA-768F-4D32-85F9-5D33C4CD00DC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C9751F-C84D-A940-FD8B-5E2755A38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0C0346-7A72-8472-B429-081309D1E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0F1C-9F2C-4889-9A43-F750929F7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213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AE20E9-8C75-66B1-07F2-6974DB343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4ECA-768F-4D32-85F9-5D33C4CD00DC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AD65FD-95ED-E44D-4B66-51DE57DC4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F44F86-99CB-42D2-CC2E-88A67AA50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0F1C-9F2C-4889-9A43-F750929F7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260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97FAD-F7DB-C3E9-BE7F-1A038BCA2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BDDC1-DA9F-EEFE-92BC-39BF7B416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E16571-EAE3-0C30-54DC-40A4993C97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878592-4410-C822-E52A-587142140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4ECA-768F-4D32-85F9-5D33C4CD00DC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007273-1B73-B0F1-5029-BCC600A91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AF2873-EF9B-4893-5232-CD1020E4F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0F1C-9F2C-4889-9A43-F750929F7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79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0F1A7-3265-0BA1-BBB0-60F4CFDBA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7BB007-F7A0-978D-9B1C-D34F6B03D1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E18E0-7F79-287E-D4E7-EFB680E13D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2D1DA0-7F93-A427-7E94-D3A3B1AC0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4ECA-768F-4D32-85F9-5D33C4CD00DC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E5C7D9-8C16-59D1-E82D-E6AF9377A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02C051-09AE-4327-C022-52C37830D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0F1C-9F2C-4889-9A43-F750929F7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014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AC42-BA31-861F-5CF6-78281FBE2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FD8944-DAB7-FEFC-FC4F-E47031FA56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867B0-08B4-9A39-6C26-B91940687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4ECA-768F-4D32-85F9-5D33C4CD00DC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6493C2-B5EC-9E45-EE76-1308AA0F4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29CAA-C687-E590-47BA-66D9E53F7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0F1C-9F2C-4889-9A43-F750929F7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918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25D680-4ED9-630E-7F2D-CBB9641CFC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F4E01C-8DF4-4384-54B2-D6E2B11334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6009A1-C516-54D2-3473-C9B6ADEAB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4ECA-768F-4D32-85F9-5D33C4CD00DC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ECF21-DE45-18EC-C87B-8B5F1967D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72620-F45D-EBFC-6BC5-50F3A9E85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0F1C-9F2C-4889-9A43-F750929F7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448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922DBF-B66E-208C-F794-83786BB82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0AAC0F-D6E2-A805-35D2-FAE6B97CA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E5060-D822-D049-F6BB-7A60B45D72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5A4ECA-768F-4D32-85F9-5D33C4CD00DC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6825B0-6C7E-112B-4808-3A98381A60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F818E-2337-87FA-0AA7-F2DF52A3DA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E00F1C-9F2C-4889-9A43-F750929F7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179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orlabs.com/item/LA1576" TargetMode="External"/><Relationship Id="rId2" Type="http://schemas.openxmlformats.org/officeDocument/2006/relationships/hyperlink" Target="https://www.edmundoptics.in/p/120mm-dia-x-120mm-fl-uncoated-plano-convex-lens/5574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edmundoptics.in/p/60mm-optic-diameter-optic-mount/19264/" TargetMode="External"/><Relationship Id="rId3" Type="http://schemas.openxmlformats.org/officeDocument/2006/relationships/hyperlink" Target="https://www.thorlabs.com/right-angle-kinematic-mirror-mounts-for-30-mm-cage-systems" TargetMode="External"/><Relationship Id="rId7" Type="http://schemas.openxmlformats.org/officeDocument/2006/relationships/hyperlink" Target="https://www.edmundoptics.in/p/120mm-optic-diameter-optic-mount/19267/" TargetMode="External"/><Relationship Id="rId2" Type="http://schemas.openxmlformats.org/officeDocument/2006/relationships/hyperlink" Target="https://www.thorlabs.com/item/KCB1C?aID=92a19c293d2928b9014db1ef41c70b35&amp;aC=2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edmundoptics.in/p/120mm-dia-x-120mm-fl-uncoated-plano-convex-lens/5574/" TargetMode="External"/><Relationship Id="rId5" Type="http://schemas.openxmlformats.org/officeDocument/2006/relationships/hyperlink" Target="https://www.thorlabs.com/kinematic-microscope-objective-mount" TargetMode="External"/><Relationship Id="rId10" Type="http://schemas.openxmlformats.org/officeDocument/2006/relationships/hyperlink" Target="https://www.thorlabs.com/mounted-achromatic-doublets-ar-coated-400---700-nm" TargetMode="External"/><Relationship Id="rId4" Type="http://schemas.openxmlformats.org/officeDocument/2006/relationships/hyperlink" Target="https://www.thorlabs.com/item/KM100R" TargetMode="External"/><Relationship Id="rId9" Type="http://schemas.openxmlformats.org/officeDocument/2006/relationships/hyperlink" Target="https://www.thorlabs.com/item/AC050-008-A-ML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AC2C8F0-8657-6ACD-649C-232A432F1644}"/>
              </a:ext>
            </a:extLst>
          </p:cNvPr>
          <p:cNvSpPr txBox="1"/>
          <p:nvPr/>
        </p:nvSpPr>
        <p:spPr>
          <a:xfrm>
            <a:off x="0" y="3198167"/>
            <a:ext cx="12192000" cy="4616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                    Design of Reflection Microscopy with different lenses as objective lens</a:t>
            </a:r>
          </a:p>
        </p:txBody>
      </p:sp>
    </p:spTree>
    <p:extLst>
      <p:ext uri="{BB962C8B-B14F-4D97-AF65-F5344CB8AC3E}">
        <p14:creationId xmlns:p14="http://schemas.microsoft.com/office/powerpoint/2010/main" val="1528931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8989A-DA41-5AA1-81BF-B572A4A85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361C6682-C522-95C8-C07F-4EFEE2FF757F}"/>
              </a:ext>
            </a:extLst>
          </p:cNvPr>
          <p:cNvSpPr txBox="1"/>
          <p:nvPr/>
        </p:nvSpPr>
        <p:spPr>
          <a:xfrm>
            <a:off x="693464" y="590592"/>
            <a:ext cx="575583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Smartphone camera as detector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Plano-convex lens as Tube lens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Beam splitter 70:30 (R:T) BST10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Microscope objective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Collimating lens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LED as light source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DE366B20-8D00-5095-9954-BAC57DD53A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64" y="2344918"/>
            <a:ext cx="3604572" cy="43437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71D6CE1-17E2-34D7-0E00-63713BCEFF6A}"/>
              </a:ext>
            </a:extLst>
          </p:cNvPr>
          <p:cNvSpPr txBox="1"/>
          <p:nvPr/>
        </p:nvSpPr>
        <p:spPr>
          <a:xfrm>
            <a:off x="6982615" y="867590"/>
            <a:ext cx="346857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Smartphone camera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Plano-convex lens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Beamsplitter 70:30 (R:T) BST10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Achromatic doublet or Ball lens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LED as light source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0ACC2B3-779F-3A82-D256-BCC31F60E8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2615" y="2360159"/>
            <a:ext cx="2994920" cy="432853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A841CA9-8086-D0A6-EEB0-8B899C125F6F}"/>
              </a:ext>
            </a:extLst>
          </p:cNvPr>
          <p:cNvSpPr txBox="1"/>
          <p:nvPr/>
        </p:nvSpPr>
        <p:spPr>
          <a:xfrm>
            <a:off x="1898511" y="242097"/>
            <a:ext cx="10861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Layout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10C632-98A6-988B-3533-FDED983DE667}"/>
              </a:ext>
            </a:extLst>
          </p:cNvPr>
          <p:cNvSpPr txBox="1"/>
          <p:nvPr/>
        </p:nvSpPr>
        <p:spPr>
          <a:xfrm>
            <a:off x="8226513" y="305972"/>
            <a:ext cx="10861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Layout 2</a:t>
            </a:r>
          </a:p>
        </p:txBody>
      </p:sp>
    </p:spTree>
    <p:extLst>
      <p:ext uri="{BB962C8B-B14F-4D97-AF65-F5344CB8AC3E}">
        <p14:creationId xmlns:p14="http://schemas.microsoft.com/office/powerpoint/2010/main" val="2617736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4D9F6F4-8734-8A37-BA59-E6F6D1AD36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995646"/>
              </p:ext>
            </p:extLst>
          </p:nvPr>
        </p:nvGraphicFramePr>
        <p:xfrm>
          <a:off x="1752564" y="451332"/>
          <a:ext cx="8686871" cy="60953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720">
                  <a:extLst>
                    <a:ext uri="{9D8B030D-6E8A-4147-A177-3AD203B41FA5}">
                      <a16:colId xmlns:a16="http://schemas.microsoft.com/office/drawing/2014/main" val="446172867"/>
                    </a:ext>
                  </a:extLst>
                </a:gridCol>
                <a:gridCol w="3774223">
                  <a:extLst>
                    <a:ext uri="{9D8B030D-6E8A-4147-A177-3AD203B41FA5}">
                      <a16:colId xmlns:a16="http://schemas.microsoft.com/office/drawing/2014/main" val="798762289"/>
                    </a:ext>
                  </a:extLst>
                </a:gridCol>
                <a:gridCol w="467791">
                  <a:extLst>
                    <a:ext uri="{9D8B030D-6E8A-4147-A177-3AD203B41FA5}">
                      <a16:colId xmlns:a16="http://schemas.microsoft.com/office/drawing/2014/main" val="179183398"/>
                    </a:ext>
                  </a:extLst>
                </a:gridCol>
                <a:gridCol w="4041137">
                  <a:extLst>
                    <a:ext uri="{9D8B030D-6E8A-4147-A177-3AD203B41FA5}">
                      <a16:colId xmlns:a16="http://schemas.microsoft.com/office/drawing/2014/main" val="344830276"/>
                    </a:ext>
                  </a:extLst>
                </a:gridCol>
              </a:tblGrid>
              <a:tr h="27854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First Layout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Second Layout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4051349"/>
                  </a:ext>
                </a:extLst>
              </a:tr>
              <a:tr h="696352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Smart Phone Camera as detector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Smart Phone Camera as detector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5847118"/>
                  </a:ext>
                </a:extLst>
              </a:tr>
              <a:tr h="905257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Plano-convex lens as tube lens (D= 6 mm, f= 11 mm) </a:t>
                      </a:r>
                      <a:r>
                        <a:rPr lang="en-US" b="1" dirty="0"/>
                        <a:t>(#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37-775)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Plano-convex lens as tube lens (D= 6 mm, f= 11 mm) </a:t>
                      </a:r>
                      <a:r>
                        <a:rPr lang="en-US" b="1" dirty="0"/>
                        <a:t>(#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37-775)</a:t>
                      </a:r>
                      <a:endParaRPr lang="en-US" b="1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1048328"/>
                  </a:ext>
                </a:extLst>
              </a:tr>
              <a:tr h="1323068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Beamsplitter  70:30 (R:T) </a:t>
                      </a:r>
                      <a:r>
                        <a:rPr lang="en-US" b="1" dirty="0"/>
                        <a:t>(BST10, Thorlabs)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or</a:t>
                      </a:r>
                      <a:r>
                        <a:rPr lang="en-US" b="1" dirty="0"/>
                        <a:t> (</a:t>
                      </a:r>
                      <a:r>
                        <a:rPr lang="en-US" sz="1800" b="1" i="0" kern="1200" cap="all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#45-314, Edmund Optics)</a:t>
                      </a:r>
                      <a:endParaRPr lang="en-US" b="1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Beamsplitter  70:30 (R:T) </a:t>
                      </a:r>
                      <a:r>
                        <a:rPr lang="en-US" b="1" dirty="0"/>
                        <a:t>(BST10, Thorlabs)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or</a:t>
                      </a:r>
                      <a:r>
                        <a:rPr lang="en-US" b="1" dirty="0"/>
                        <a:t> (</a:t>
                      </a:r>
                      <a:r>
                        <a:rPr lang="en-US" sz="1800" b="1" i="0" kern="1200" cap="all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#45-314, Edmund Optics)</a:t>
                      </a:r>
                      <a:endParaRPr lang="en-US" b="1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9646782"/>
                  </a:ext>
                </a:extLst>
              </a:tr>
              <a:tr h="1323068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Microscope Objective</a:t>
                      </a:r>
                    </a:p>
                    <a:p>
                      <a:r>
                        <a:rPr lang="en-US" dirty="0"/>
                        <a:t>RMS10X, Thorlabs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Ball lens (d= 3mm) </a:t>
                      </a:r>
                      <a:r>
                        <a:rPr lang="en-US" b="1" dirty="0"/>
                        <a:t>(#43711, EO)</a:t>
                      </a:r>
                    </a:p>
                    <a:p>
                      <a:r>
                        <a:rPr lang="en-US" b="0" dirty="0"/>
                        <a:t>or Achromatic doublet lens (d= 4 mm, f= 6 mm)</a:t>
                      </a:r>
                    </a:p>
                    <a:p>
                      <a:r>
                        <a:rPr lang="en-US" b="1" dirty="0"/>
                        <a:t>(#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63–714, EO)</a:t>
                      </a:r>
                      <a:r>
                        <a:rPr lang="en-US" b="1" dirty="0"/>
                        <a:t> </a:t>
                      </a:r>
                      <a:br>
                        <a:rPr lang="en-US" dirty="0"/>
                      </a:b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119515"/>
                  </a:ext>
                </a:extLst>
              </a:tr>
              <a:tr h="905257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Collimating lens </a:t>
                      </a:r>
                    </a:p>
                    <a:p>
                      <a:r>
                        <a:rPr lang="en-US" dirty="0"/>
                        <a:t>(PCX  </a:t>
                      </a: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#45-083</a:t>
                      </a: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EO</a:t>
                      </a: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or (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LA1576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Thorlabs)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1W LED as light source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7847170"/>
                  </a:ext>
                </a:extLst>
              </a:tr>
              <a:tr h="418287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1W LED as light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09278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5259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189468E-CB19-5394-031C-67A738C7E3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132624"/>
              </p:ext>
            </p:extLst>
          </p:nvPr>
        </p:nvGraphicFramePr>
        <p:xfrm>
          <a:off x="724309" y="169059"/>
          <a:ext cx="10730271" cy="62858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757">
                  <a:extLst>
                    <a:ext uri="{9D8B030D-6E8A-4147-A177-3AD203B41FA5}">
                      <a16:colId xmlns:a16="http://schemas.microsoft.com/office/drawing/2014/main" val="3228555788"/>
                    </a:ext>
                  </a:extLst>
                </a:gridCol>
                <a:gridCol w="3576757">
                  <a:extLst>
                    <a:ext uri="{9D8B030D-6E8A-4147-A177-3AD203B41FA5}">
                      <a16:colId xmlns:a16="http://schemas.microsoft.com/office/drawing/2014/main" val="2261895651"/>
                    </a:ext>
                  </a:extLst>
                </a:gridCol>
                <a:gridCol w="3576757">
                  <a:extLst>
                    <a:ext uri="{9D8B030D-6E8A-4147-A177-3AD203B41FA5}">
                      <a16:colId xmlns:a16="http://schemas.microsoft.com/office/drawing/2014/main" val="1578772176"/>
                    </a:ext>
                  </a:extLst>
                </a:gridCol>
              </a:tblGrid>
              <a:tr h="39138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Source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865742"/>
                  </a:ext>
                </a:extLst>
              </a:tr>
              <a:tr h="927191">
                <a:tc>
                  <a:txBody>
                    <a:bodyPr/>
                    <a:lstStyle/>
                    <a:p>
                      <a:r>
                        <a:rPr lang="en-US" dirty="0"/>
                        <a:t>Beamsplitter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KCB1C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for </a:t>
                      </a:r>
                      <a:r>
                        <a:rPr lang="en-US" b="1" dirty="0"/>
                        <a:t>BST10, Thorlabs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3"/>
                        </a:rPr>
                        <a:t>https://www.thorlabs.com/right-angle-kinematic-mirror-mounts-for-30-mm-cage-systems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1542862"/>
                  </a:ext>
                </a:extLst>
              </a:tr>
              <a:tr h="645970">
                <a:tc>
                  <a:txBody>
                    <a:bodyPr/>
                    <a:lstStyle/>
                    <a:p>
                      <a:r>
                        <a:rPr lang="en-US" dirty="0"/>
                        <a:t>Microscope objective (RMS10X, Thorlabs)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KM100R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5"/>
                        </a:rPr>
                        <a:t>https://www.thorlabs.com/kinematic-microscope-objective-mount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8522172"/>
                  </a:ext>
                </a:extLst>
              </a:tr>
              <a:tr h="897723">
                <a:tc>
                  <a:txBody>
                    <a:bodyPr/>
                    <a:lstStyle/>
                    <a:p>
                      <a:r>
                        <a:rPr lang="en-US" dirty="0"/>
                        <a:t>Plano-convex lens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(a) 64-555 for (</a:t>
                      </a: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6"/>
                        </a:rPr>
                        <a:t>45-083</a:t>
                      </a: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,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f=12 mm, </a:t>
                      </a:r>
                    </a:p>
                    <a:p>
                      <a:pPr algn="just"/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d= 12mm)</a:t>
                      </a:r>
                    </a:p>
                    <a:p>
                      <a:pPr algn="just"/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(b) 64-552 for (37-775 , f= 11mm,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d= 6mm)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lphaLcParenBoth"/>
                      </a:pPr>
                      <a:r>
                        <a:rPr lang="en-US" dirty="0">
                          <a:hlinkClick r:id="rId7"/>
                        </a:rPr>
                        <a:t>https://www.edmundoptics.in/p/120mm-optic-diameter-optic-mount/19267/</a:t>
                      </a:r>
                      <a:endParaRPr lang="en-US" dirty="0"/>
                    </a:p>
                    <a:p>
                      <a:pPr marL="342900" indent="-342900">
                        <a:buAutoNum type="alphaLcParenBoth"/>
                      </a:pPr>
                      <a:r>
                        <a:rPr lang="en-US" dirty="0">
                          <a:hlinkClick r:id="rId8"/>
                        </a:rPr>
                        <a:t>https://www.edmundoptics.in/p/60mm-optic-diameter-optic-mount/19264/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94531"/>
                  </a:ext>
                </a:extLst>
              </a:tr>
              <a:tr h="480806">
                <a:tc>
                  <a:txBody>
                    <a:bodyPr/>
                    <a:lstStyle/>
                    <a:p>
                      <a:r>
                        <a:rPr lang="en-US" dirty="0"/>
                        <a:t>Achromatic doublet lens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 algn="l" fontAlgn="ctr">
                        <a:buFont typeface="+mj-lt"/>
                        <a:buAutoNum type="alphaLcParenBoth"/>
                      </a:pPr>
                      <a:r>
                        <a:rPr lang="en-US" b="1" i="0" dirty="0">
                          <a:solidFill>
                            <a:srgbClr val="005CB9"/>
                          </a:solidFill>
                          <a:effectLst/>
                          <a:latin typeface="Manrope"/>
                          <a:hlinkClick r:id="rId9"/>
                        </a:rPr>
                        <a:t>AC050-008-A-ML</a:t>
                      </a:r>
                      <a:endParaRPr lang="en-US" b="1" i="0" dirty="0">
                        <a:solidFill>
                          <a:srgbClr val="005CB9"/>
                        </a:solidFill>
                        <a:effectLst/>
                        <a:latin typeface="Manrope"/>
                      </a:endParaRPr>
                    </a:p>
                    <a:p>
                      <a:pPr marL="342900" indent="-342900" algn="l" fontAlgn="ctr">
                        <a:buFont typeface="+mj-lt"/>
                        <a:buAutoNum type="alphaLcParenBoth"/>
                      </a:pPr>
                      <a:r>
                        <a:rPr lang="en-US" b="1" i="0" dirty="0">
                          <a:solidFill>
                            <a:srgbClr val="005CB9"/>
                          </a:solidFill>
                          <a:effectLst/>
                          <a:latin typeface="Manrope"/>
                        </a:rPr>
                        <a:t> 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63–714</a:t>
                      </a:r>
                      <a:endParaRPr lang="en-US" b="1" i="0" dirty="0">
                        <a:solidFill>
                          <a:srgbClr val="005CB9"/>
                        </a:solidFill>
                        <a:effectLst/>
                        <a:latin typeface="Manrope"/>
                      </a:endParaRPr>
                    </a:p>
                    <a:p>
                      <a:pPr marL="342900" indent="-342900" algn="l" fontAlgn="ctr">
                        <a:buFont typeface="+mj-lt"/>
                        <a:buAutoNum type="alphaLcParenR"/>
                      </a:pPr>
                      <a:endParaRPr lang="en-US" b="0" i="0" dirty="0">
                        <a:solidFill>
                          <a:srgbClr val="3B3B3B"/>
                        </a:solidFill>
                        <a:effectLst/>
                        <a:latin typeface="Manrope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 algn="l" fontAlgn="ctr">
                        <a:buAutoNum type="alphaLcParenBoth"/>
                      </a:pPr>
                      <a:r>
                        <a:rPr lang="en-US" b="0" i="0" dirty="0">
                          <a:solidFill>
                            <a:srgbClr val="3B3B3B"/>
                          </a:solidFill>
                          <a:effectLst/>
                          <a:latin typeface="Manrope"/>
                          <a:hlinkClick r:id="rId10"/>
                        </a:rPr>
                        <a:t>https://www.thorlabs.com/mounted-achromatic-doublets-ar-coated-400---700-nm</a:t>
                      </a:r>
                      <a:endParaRPr lang="en-US" b="0" i="0" dirty="0">
                        <a:solidFill>
                          <a:srgbClr val="3B3B3B"/>
                        </a:solidFill>
                        <a:effectLst/>
                        <a:latin typeface="Manrope"/>
                      </a:endParaRPr>
                    </a:p>
                    <a:p>
                      <a:pPr marL="342900" indent="-342900" algn="l" fontAlgn="ctr">
                        <a:buAutoNum type="alphaLcParenBoth"/>
                      </a:pPr>
                      <a:r>
                        <a:rPr lang="en-US" b="0" i="0" dirty="0">
                          <a:solidFill>
                            <a:srgbClr val="3B3B3B"/>
                          </a:solidFill>
                          <a:effectLst/>
                          <a:latin typeface="Manrope"/>
                        </a:rPr>
                        <a:t> Not found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3085570"/>
                  </a:ext>
                </a:extLst>
              </a:tr>
              <a:tr h="468015">
                <a:tc>
                  <a:txBody>
                    <a:bodyPr/>
                    <a:lstStyle/>
                    <a:p>
                      <a:r>
                        <a:rPr lang="en-US" dirty="0"/>
                        <a:t>Ball lens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3143345"/>
                  </a:ext>
                </a:extLst>
              </a:tr>
              <a:tr h="927191">
                <a:tc>
                  <a:txBody>
                    <a:bodyPr/>
                    <a:lstStyle/>
                    <a:p>
                      <a:r>
                        <a:rPr lang="en-US" dirty="0"/>
                        <a:t>Power supply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USB-OTG cable or 9V battery with battery snapper </a:t>
                      </a:r>
                      <a:r>
                        <a:rPr lang="en-US"/>
                        <a:t>and resistor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02849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0816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3CDE33AB-EF33-5B17-8F25-07662095FF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1859"/>
            <a:ext cx="4295526" cy="202988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897B2BA-3DB6-AAC2-1FA2-6DC9B22B01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997" y="3129335"/>
            <a:ext cx="2937152" cy="30734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ADEAEE0-4B6F-D0F4-2EDA-1C4ADD217C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2700" y="3178764"/>
            <a:ext cx="2937152" cy="302398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A49085D-9436-2E14-F39A-95E566639E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1851" y="3216673"/>
            <a:ext cx="2937152" cy="294816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E848BBB-F69D-200E-3942-42FCBE86D4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8608" y="618586"/>
            <a:ext cx="4473063" cy="202988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EF31046-BB41-64E8-065F-09A6E3752C9A}"/>
              </a:ext>
            </a:extLst>
          </p:cNvPr>
          <p:cNvSpPr txBox="1"/>
          <p:nvPr/>
        </p:nvSpPr>
        <p:spPr>
          <a:xfrm>
            <a:off x="4207148" y="121636"/>
            <a:ext cx="3386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Design with Ball Lens as objective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0BB242A-8BEB-2E01-0345-5488D73ADCDA}"/>
              </a:ext>
            </a:extLst>
          </p:cNvPr>
          <p:cNvSpPr txBox="1"/>
          <p:nvPr/>
        </p:nvSpPr>
        <p:spPr>
          <a:xfrm>
            <a:off x="447568" y="6379459"/>
            <a:ext cx="9301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Fig: Spot diagram of wavelength (c) 400 nm    (d) 587 nm                                                    (e) 700 nm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0731AD6-8B90-192A-27DC-D620E6013FF0}"/>
              </a:ext>
            </a:extLst>
          </p:cNvPr>
          <p:cNvSpPr txBox="1"/>
          <p:nvPr/>
        </p:nvSpPr>
        <p:spPr>
          <a:xfrm>
            <a:off x="885518" y="2671647"/>
            <a:ext cx="1748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 (a) 2D Layout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D3C11F0-21F6-238F-9AF2-CB4AF346FEE8}"/>
              </a:ext>
            </a:extLst>
          </p:cNvPr>
          <p:cNvSpPr txBox="1"/>
          <p:nvPr/>
        </p:nvSpPr>
        <p:spPr>
          <a:xfrm>
            <a:off x="4613766" y="2702122"/>
            <a:ext cx="2347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 (b) Lens Data Editor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FB22D3-8CBE-F204-B629-08B3A66A4B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9534" y="109209"/>
            <a:ext cx="2362985" cy="25929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A8737F-1A61-F6D0-7F64-8A0708F9A5A1}"/>
              </a:ext>
            </a:extLst>
          </p:cNvPr>
          <p:cNvSpPr txBox="1"/>
          <p:nvPr/>
        </p:nvSpPr>
        <p:spPr>
          <a:xfrm>
            <a:off x="8993456" y="2809432"/>
            <a:ext cx="2465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 (f) Footprint diagram</a:t>
            </a:r>
          </a:p>
        </p:txBody>
      </p:sp>
    </p:spTree>
    <p:extLst>
      <p:ext uri="{BB962C8B-B14F-4D97-AF65-F5344CB8AC3E}">
        <p14:creationId xmlns:p14="http://schemas.microsoft.com/office/powerpoint/2010/main" val="827344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70A3F1-5206-97E8-2473-17E9A51D2E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363" y="435922"/>
            <a:ext cx="2443244" cy="22152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90CF11-8FB5-8E63-22CE-07B9A7BDA60A}"/>
              </a:ext>
            </a:extLst>
          </p:cNvPr>
          <p:cNvSpPr txBox="1"/>
          <p:nvPr/>
        </p:nvSpPr>
        <p:spPr>
          <a:xfrm>
            <a:off x="4552336" y="137651"/>
            <a:ext cx="2989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Design with Achromatic Lens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7729B3C-EAAA-0573-0E32-145FF943DA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318" y="606372"/>
            <a:ext cx="5163147" cy="20104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FB8B624-A20D-1BB4-11C5-340FB147EA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867"/>
          <a:stretch>
            <a:fillRect/>
          </a:stretch>
        </p:blipFill>
        <p:spPr>
          <a:xfrm>
            <a:off x="882736" y="2983596"/>
            <a:ext cx="2989964" cy="323363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D0E9885-E29C-DFC0-2CF7-89C7C9D2B5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2336" y="2974353"/>
            <a:ext cx="3392129" cy="324287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81A9DD5-F7CC-5D59-5E8D-17ABAF98AC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4101" y="2983596"/>
            <a:ext cx="3105783" cy="323664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8304548-B6C2-7A7A-B2C3-A4C5A2C8D77E}"/>
              </a:ext>
            </a:extLst>
          </p:cNvPr>
          <p:cNvSpPr txBox="1"/>
          <p:nvPr/>
        </p:nvSpPr>
        <p:spPr>
          <a:xfrm>
            <a:off x="240652" y="2579315"/>
            <a:ext cx="17486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 (a) 2D Layout</a:t>
            </a:r>
          </a:p>
          <a:p>
            <a:r>
              <a:rPr lang="en-US" dirty="0"/>
              <a:t>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96E1D2-BAE2-0E4C-371D-83AC750C5E4D}"/>
              </a:ext>
            </a:extLst>
          </p:cNvPr>
          <p:cNvSpPr txBox="1"/>
          <p:nvPr/>
        </p:nvSpPr>
        <p:spPr>
          <a:xfrm>
            <a:off x="2781318" y="2647664"/>
            <a:ext cx="23477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 (b) Lens Data Editor</a:t>
            </a:r>
          </a:p>
          <a:p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ACFA31-E341-B1E7-32A6-BBF0DBCCE3B6}"/>
              </a:ext>
            </a:extLst>
          </p:cNvPr>
          <p:cNvSpPr txBox="1"/>
          <p:nvPr/>
        </p:nvSpPr>
        <p:spPr>
          <a:xfrm>
            <a:off x="447568" y="6379459"/>
            <a:ext cx="9301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Fig: Spot diagram of wavelength (c) 400 nm    (d) 587 nm                                                    (e) 700 nm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28D191-B445-BD42-764D-A1921F49F12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9238" y="99794"/>
            <a:ext cx="2319202" cy="24795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023AE71-2C22-C9AB-3D68-0DDAC55704D9}"/>
              </a:ext>
            </a:extLst>
          </p:cNvPr>
          <p:cNvSpPr txBox="1"/>
          <p:nvPr/>
        </p:nvSpPr>
        <p:spPr>
          <a:xfrm>
            <a:off x="8843717" y="2647664"/>
            <a:ext cx="2465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 (f) Footprint diagram</a:t>
            </a:r>
          </a:p>
        </p:txBody>
      </p:sp>
    </p:spTree>
    <p:extLst>
      <p:ext uri="{BB962C8B-B14F-4D97-AF65-F5344CB8AC3E}">
        <p14:creationId xmlns:p14="http://schemas.microsoft.com/office/powerpoint/2010/main" val="1571354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65D63D-E52A-64E8-14ED-300084DD2F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24" y="994198"/>
            <a:ext cx="3765536" cy="12278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1ED147-0537-550A-041F-07853178E4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5060" y="865110"/>
            <a:ext cx="4363347" cy="18682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805522-9EF0-450E-CEC0-3BD244AD35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7917" y="304537"/>
            <a:ext cx="2344819" cy="26072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14AD28A-E810-2BF1-CD66-DE4AA69D63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252" y="3429000"/>
            <a:ext cx="2864808" cy="27117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920761B-2FB0-4E4C-F029-04F1B453DC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4329" y="3429000"/>
            <a:ext cx="2864808" cy="27991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F2F0793-2540-9B65-7299-189B5039DD8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6260" y="3395681"/>
            <a:ext cx="3085488" cy="283242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5744208-E9B6-4DFA-0C25-7BEA06FD852D}"/>
              </a:ext>
            </a:extLst>
          </p:cNvPr>
          <p:cNvSpPr txBox="1"/>
          <p:nvPr/>
        </p:nvSpPr>
        <p:spPr>
          <a:xfrm>
            <a:off x="4407813" y="208544"/>
            <a:ext cx="3434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Design with Microscopic objective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D2B934-3218-8E0D-01D4-6BC060C87FEB}"/>
              </a:ext>
            </a:extLst>
          </p:cNvPr>
          <p:cNvSpPr txBox="1"/>
          <p:nvPr/>
        </p:nvSpPr>
        <p:spPr>
          <a:xfrm>
            <a:off x="447568" y="6379459"/>
            <a:ext cx="9301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Fig: Spot diagram of wavelength (c) 400 nm    (d) 587 nm                                                    (e) 700 nm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690899-26A6-CBDA-065B-5CF88F8BA089}"/>
              </a:ext>
            </a:extLst>
          </p:cNvPr>
          <p:cNvSpPr txBox="1"/>
          <p:nvPr/>
        </p:nvSpPr>
        <p:spPr>
          <a:xfrm>
            <a:off x="747375" y="2733368"/>
            <a:ext cx="1748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 (a) 2D Layout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48BB39B-D956-4369-4864-770A4B3804C9}"/>
              </a:ext>
            </a:extLst>
          </p:cNvPr>
          <p:cNvSpPr txBox="1"/>
          <p:nvPr/>
        </p:nvSpPr>
        <p:spPr>
          <a:xfrm>
            <a:off x="3233933" y="2867101"/>
            <a:ext cx="23477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 (b) Lens Data Editor</a:t>
            </a:r>
          </a:p>
          <a:p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78DECB4-DEBB-1B04-2C36-D82E9D5A9638}"/>
              </a:ext>
            </a:extLst>
          </p:cNvPr>
          <p:cNvSpPr txBox="1"/>
          <p:nvPr/>
        </p:nvSpPr>
        <p:spPr>
          <a:xfrm>
            <a:off x="8979078" y="2950670"/>
            <a:ext cx="2465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 (f) Footprint diagram</a:t>
            </a:r>
          </a:p>
        </p:txBody>
      </p:sp>
    </p:spTree>
    <p:extLst>
      <p:ext uri="{BB962C8B-B14F-4D97-AF65-F5344CB8AC3E}">
        <p14:creationId xmlns:p14="http://schemas.microsoft.com/office/powerpoint/2010/main" val="2794052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6AF623D-143E-0A24-EE4F-E801041CE087}"/>
                  </a:ext>
                </a:extLst>
              </p:cNvPr>
              <p:cNvSpPr txBox="1"/>
              <p:nvPr/>
            </p:nvSpPr>
            <p:spPr>
              <a:xfrm>
                <a:off x="-717754" y="3106717"/>
                <a:ext cx="5093109" cy="85215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6  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=1.83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6AF623D-143E-0A24-EE4F-E801041CE0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17754" y="3106717"/>
                <a:ext cx="5093109" cy="85215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D24A065C-8068-DAF9-9C7E-D972109AF369}"/>
              </a:ext>
            </a:extLst>
          </p:cNvPr>
          <p:cNvSpPr txBox="1"/>
          <p:nvPr/>
        </p:nvSpPr>
        <p:spPr>
          <a:xfrm>
            <a:off x="560438" y="206477"/>
            <a:ext cx="1121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Comment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6AFBD4-A811-3884-1590-9B401411AAB2}"/>
              </a:ext>
            </a:extLst>
          </p:cNvPr>
          <p:cNvSpPr txBox="1"/>
          <p:nvPr/>
        </p:nvSpPr>
        <p:spPr>
          <a:xfrm>
            <a:off x="580103" y="1022555"/>
            <a:ext cx="1043753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i="1" dirty="0"/>
              <a:t>Magnification of system using ball lens as objective lens </a:t>
            </a:r>
          </a:p>
          <a:p>
            <a:r>
              <a:rPr lang="en-US" i="1" dirty="0"/>
              <a:t>      M(total) = M1 × M2</a:t>
            </a:r>
          </a:p>
          <a:p>
            <a:r>
              <a:rPr lang="en-US" i="1" dirty="0"/>
              <a:t>      M1 = 1000 (n −1) n/D is the magnification obtained from the ball lens where n is the refractive </a:t>
            </a:r>
          </a:p>
          <a:p>
            <a:r>
              <a:rPr lang="en-US" i="1" dirty="0"/>
              <a:t>      index and D is the diameter of the ball lens and M2 = 1 + d /f is the magnification due to the PCX lens used.</a:t>
            </a:r>
          </a:p>
          <a:p>
            <a:r>
              <a:rPr lang="en-US" i="1" dirty="0"/>
              <a:t>      M(total) = 171x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F383984-2E15-6E55-F57C-B8F903307C63}"/>
                  </a:ext>
                </a:extLst>
              </p:cNvPr>
              <p:cNvSpPr txBox="1"/>
              <p:nvPr/>
            </p:nvSpPr>
            <p:spPr>
              <a:xfrm>
                <a:off x="3008670" y="3202209"/>
                <a:ext cx="576170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i="1" dirty="0"/>
                  <a:t> is the focal length of tube lens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i="1" dirty="0"/>
                  <a:t>is the focal length of objective lens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F383984-2E15-6E55-F57C-B8F903307C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8670" y="3202209"/>
                <a:ext cx="5761704" cy="646331"/>
              </a:xfrm>
              <a:prstGeom prst="rect">
                <a:avLst/>
              </a:prstGeom>
              <a:blipFill>
                <a:blip r:embed="rId3"/>
                <a:stretch>
                  <a:fillRect l="-952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FA253758-B024-52C8-45C1-76784CA57B9F}"/>
              </a:ext>
            </a:extLst>
          </p:cNvPr>
          <p:cNvSpPr txBox="1"/>
          <p:nvPr/>
        </p:nvSpPr>
        <p:spPr>
          <a:xfrm>
            <a:off x="462116" y="2797075"/>
            <a:ext cx="6332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2. Magnification of system using achromatic lens as objective lens</a:t>
            </a:r>
          </a:p>
        </p:txBody>
      </p:sp>
    </p:spTree>
    <p:extLst>
      <p:ext uri="{BB962C8B-B14F-4D97-AF65-F5344CB8AC3E}">
        <p14:creationId xmlns:p14="http://schemas.microsoft.com/office/powerpoint/2010/main" val="1323303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Lightbulb with solid fill">
            <a:extLst>
              <a:ext uri="{FF2B5EF4-FFF2-40B4-BE49-F238E27FC236}">
                <a16:creationId xmlns:a16="http://schemas.microsoft.com/office/drawing/2014/main" id="{C7D05AD4-53D6-389E-00AB-056742853C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10149" y="3827400"/>
            <a:ext cx="767255" cy="767255"/>
          </a:xfrm>
          <a:prstGeom prst="rect">
            <a:avLst/>
          </a:prstGeom>
        </p:spPr>
      </p:pic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AF504045-CAB5-4874-535F-F8DE5B205F07}"/>
              </a:ext>
            </a:extLst>
          </p:cNvPr>
          <p:cNvSpPr/>
          <p:nvPr/>
        </p:nvSpPr>
        <p:spPr>
          <a:xfrm rot="16200000">
            <a:off x="6840604" y="3144109"/>
            <a:ext cx="432079" cy="1921285"/>
          </a:xfrm>
          <a:prstGeom prst="triangle">
            <a:avLst/>
          </a:prstGeom>
          <a:solidFill>
            <a:srgbClr val="92D050"/>
          </a:solidFill>
          <a:ln>
            <a:noFill/>
          </a:ln>
          <a:effectLst>
            <a:glow rad="139700">
              <a:schemeClr val="accent6">
                <a:satMod val="175000"/>
                <a:alpha val="40000"/>
              </a:schemeClr>
            </a:glo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E5CEE6FA-B5AB-5531-0A3D-93C642BBC3B5}"/>
              </a:ext>
            </a:extLst>
          </p:cNvPr>
          <p:cNvSpPr/>
          <p:nvPr/>
        </p:nvSpPr>
        <p:spPr>
          <a:xfrm>
            <a:off x="7806333" y="3391265"/>
            <a:ext cx="637416" cy="1659484"/>
          </a:xfrm>
          <a:prstGeom prst="triangle">
            <a:avLst/>
          </a:prstGeom>
          <a:solidFill>
            <a:srgbClr val="92D050"/>
          </a:solidFill>
          <a:ln>
            <a:noFill/>
          </a:ln>
          <a:effectLst>
            <a:glow rad="139700">
              <a:schemeClr val="accent6">
                <a:satMod val="175000"/>
                <a:alpha val="40000"/>
              </a:schemeClr>
            </a:glo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6E509E-CA6B-90B4-7164-DAAFAE19B3A6}"/>
              </a:ext>
            </a:extLst>
          </p:cNvPr>
          <p:cNvSpPr/>
          <p:nvPr/>
        </p:nvSpPr>
        <p:spPr>
          <a:xfrm rot="19096681">
            <a:off x="8170444" y="3137734"/>
            <a:ext cx="176828" cy="1828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E7591EC8-8FFF-35F2-E23E-3287340CB418}"/>
              </a:ext>
            </a:extLst>
          </p:cNvPr>
          <p:cNvSpPr/>
          <p:nvPr/>
        </p:nvSpPr>
        <p:spPr>
          <a:xfrm rot="10800000">
            <a:off x="7841458" y="1722195"/>
            <a:ext cx="567167" cy="1802068"/>
          </a:xfrm>
          <a:prstGeom prst="triangle">
            <a:avLst/>
          </a:prstGeom>
          <a:solidFill>
            <a:srgbClr val="92D050"/>
          </a:solidFill>
          <a:ln>
            <a:noFill/>
          </a:ln>
          <a:effectLst>
            <a:glow rad="139700">
              <a:schemeClr val="accent6">
                <a:satMod val="175000"/>
                <a:alpha val="40000"/>
              </a:schemeClr>
            </a:glo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A2305E-BCEA-A193-E97E-80D4594D938F}"/>
              </a:ext>
            </a:extLst>
          </p:cNvPr>
          <p:cNvSpPr/>
          <p:nvPr/>
        </p:nvSpPr>
        <p:spPr>
          <a:xfrm>
            <a:off x="7806334" y="824045"/>
            <a:ext cx="637416" cy="516283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glow rad="139700">
              <a:schemeClr val="accent6">
                <a:satMod val="175000"/>
                <a:alpha val="40000"/>
              </a:schemeClr>
            </a:glo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1A62AAD-2BDD-7CF1-33CF-43AA814E1AAA}"/>
              </a:ext>
            </a:extLst>
          </p:cNvPr>
          <p:cNvSpPr/>
          <p:nvPr/>
        </p:nvSpPr>
        <p:spPr>
          <a:xfrm>
            <a:off x="7806333" y="5478705"/>
            <a:ext cx="602292" cy="443531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4615185-C530-DFD4-1B72-33DE6324639C}"/>
              </a:ext>
            </a:extLst>
          </p:cNvPr>
          <p:cNvSpPr/>
          <p:nvPr/>
        </p:nvSpPr>
        <p:spPr>
          <a:xfrm>
            <a:off x="7440869" y="4863954"/>
            <a:ext cx="1346479" cy="71343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7EFD1C0-65FA-B0E6-5B17-34A115B58F01}"/>
              </a:ext>
            </a:extLst>
          </p:cNvPr>
          <p:cNvSpPr/>
          <p:nvPr/>
        </p:nvSpPr>
        <p:spPr>
          <a:xfrm>
            <a:off x="7169563" y="1259890"/>
            <a:ext cx="1889090" cy="52106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0961784-0BD7-30C0-1AD5-3849BBE05B39}"/>
              </a:ext>
            </a:extLst>
          </p:cNvPr>
          <p:cNvSpPr/>
          <p:nvPr/>
        </p:nvSpPr>
        <p:spPr>
          <a:xfrm>
            <a:off x="7297271" y="379419"/>
            <a:ext cx="1582270" cy="301922"/>
          </a:xfrm>
          <a:prstGeom prst="roundRect">
            <a:avLst>
              <a:gd name="adj" fmla="val 23893"/>
            </a:avLst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EF41148-51CE-BE55-B81A-C503CD53FCBF}"/>
              </a:ext>
            </a:extLst>
          </p:cNvPr>
          <p:cNvSpPr/>
          <p:nvPr/>
        </p:nvSpPr>
        <p:spPr>
          <a:xfrm>
            <a:off x="7491010" y="680106"/>
            <a:ext cx="1205593" cy="241241"/>
          </a:xfrm>
          <a:prstGeom prst="roundRect">
            <a:avLst>
              <a:gd name="adj" fmla="val 13800"/>
            </a:avLst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lowchart: Delay 20">
            <a:extLst>
              <a:ext uri="{FF2B5EF4-FFF2-40B4-BE49-F238E27FC236}">
                <a16:creationId xmlns:a16="http://schemas.microsoft.com/office/drawing/2014/main" id="{3B49BB24-AD57-0905-4B8D-BCF6D9ED7CFF}"/>
              </a:ext>
            </a:extLst>
          </p:cNvPr>
          <p:cNvSpPr/>
          <p:nvPr/>
        </p:nvSpPr>
        <p:spPr>
          <a:xfrm rot="5400000">
            <a:off x="7979179" y="5272871"/>
            <a:ext cx="269853" cy="1734797"/>
          </a:xfrm>
          <a:prstGeom prst="flowChartDelay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E9EA1A9-2A64-C0FD-8582-4725828B009A}"/>
              </a:ext>
            </a:extLst>
          </p:cNvPr>
          <p:cNvSpPr/>
          <p:nvPr/>
        </p:nvSpPr>
        <p:spPr>
          <a:xfrm>
            <a:off x="7691345" y="5862796"/>
            <a:ext cx="867398" cy="142547"/>
          </a:xfrm>
          <a:custGeom>
            <a:avLst/>
            <a:gdLst>
              <a:gd name="csX0" fmla="*/ 0 w 867398"/>
              <a:gd name="csY0" fmla="*/ 102578 h 102578"/>
              <a:gd name="csX1" fmla="*/ 29911 w 867398"/>
              <a:gd name="csY1" fmla="*/ 68395 h 102578"/>
              <a:gd name="csX2" fmla="*/ 55548 w 867398"/>
              <a:gd name="csY2" fmla="*/ 55576 h 102578"/>
              <a:gd name="csX3" fmla="*/ 76913 w 867398"/>
              <a:gd name="csY3" fmla="*/ 42758 h 102578"/>
              <a:gd name="csX4" fmla="*/ 192281 w 867398"/>
              <a:gd name="csY4" fmla="*/ 8575 h 102578"/>
              <a:gd name="csX5" fmla="*/ 205099 w 867398"/>
              <a:gd name="csY5" fmla="*/ 29 h 102578"/>
              <a:gd name="csX6" fmla="*/ 247828 w 867398"/>
              <a:gd name="csY6" fmla="*/ 29939 h 102578"/>
              <a:gd name="csX7" fmla="*/ 264920 w 867398"/>
              <a:gd name="csY7" fmla="*/ 47031 h 102578"/>
              <a:gd name="csX8" fmla="*/ 290557 w 867398"/>
              <a:gd name="csY8" fmla="*/ 42758 h 102578"/>
              <a:gd name="csX9" fmla="*/ 337559 w 867398"/>
              <a:gd name="csY9" fmla="*/ 12847 h 102578"/>
              <a:gd name="csX10" fmla="*/ 350378 w 867398"/>
              <a:gd name="csY10" fmla="*/ 8575 h 102578"/>
              <a:gd name="csX11" fmla="*/ 410198 w 867398"/>
              <a:gd name="csY11" fmla="*/ 17120 h 102578"/>
              <a:gd name="csX12" fmla="*/ 427290 w 867398"/>
              <a:gd name="csY12" fmla="*/ 25666 h 102578"/>
              <a:gd name="csX13" fmla="*/ 448655 w 867398"/>
              <a:gd name="csY13" fmla="*/ 29939 h 102578"/>
              <a:gd name="csX14" fmla="*/ 542658 w 867398"/>
              <a:gd name="csY14" fmla="*/ 17120 h 102578"/>
              <a:gd name="csX15" fmla="*/ 581114 w 867398"/>
              <a:gd name="csY15" fmla="*/ 29939 h 102578"/>
              <a:gd name="csX16" fmla="*/ 593933 w 867398"/>
              <a:gd name="csY16" fmla="*/ 38485 h 102578"/>
              <a:gd name="csX17" fmla="*/ 709301 w 867398"/>
              <a:gd name="csY17" fmla="*/ 47031 h 102578"/>
              <a:gd name="csX18" fmla="*/ 807578 w 867398"/>
              <a:gd name="csY18" fmla="*/ 55576 h 102578"/>
              <a:gd name="csX19" fmla="*/ 816124 w 867398"/>
              <a:gd name="csY19" fmla="*/ 68395 h 102578"/>
              <a:gd name="csX20" fmla="*/ 828942 w 867398"/>
              <a:gd name="csY20" fmla="*/ 72668 h 102578"/>
              <a:gd name="csX21" fmla="*/ 846034 w 867398"/>
              <a:gd name="csY21" fmla="*/ 81214 h 102578"/>
              <a:gd name="csX22" fmla="*/ 867398 w 867398"/>
              <a:gd name="csY22" fmla="*/ 98305 h 1025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867398" h="102578">
                <a:moveTo>
                  <a:pt x="0" y="102578"/>
                </a:moveTo>
                <a:cubicBezTo>
                  <a:pt x="4249" y="97266"/>
                  <a:pt x="21654" y="73900"/>
                  <a:pt x="29911" y="68395"/>
                </a:cubicBezTo>
                <a:cubicBezTo>
                  <a:pt x="37861" y="63095"/>
                  <a:pt x="47160" y="60151"/>
                  <a:pt x="55548" y="55576"/>
                </a:cubicBezTo>
                <a:cubicBezTo>
                  <a:pt x="62839" y="51599"/>
                  <a:pt x="69324" y="46131"/>
                  <a:pt x="76913" y="42758"/>
                </a:cubicBezTo>
                <a:cubicBezTo>
                  <a:pt x="132113" y="18225"/>
                  <a:pt x="132985" y="21280"/>
                  <a:pt x="192281" y="8575"/>
                </a:cubicBezTo>
                <a:cubicBezTo>
                  <a:pt x="196554" y="5726"/>
                  <a:pt x="199989" y="-482"/>
                  <a:pt x="205099" y="29"/>
                </a:cubicBezTo>
                <a:cubicBezTo>
                  <a:pt x="235449" y="3063"/>
                  <a:pt x="232511" y="12434"/>
                  <a:pt x="247828" y="29939"/>
                </a:cubicBezTo>
                <a:cubicBezTo>
                  <a:pt x="253134" y="36003"/>
                  <a:pt x="259223" y="41334"/>
                  <a:pt x="264920" y="47031"/>
                </a:cubicBezTo>
                <a:cubicBezTo>
                  <a:pt x="273466" y="45607"/>
                  <a:pt x="282718" y="46447"/>
                  <a:pt x="290557" y="42758"/>
                </a:cubicBezTo>
                <a:cubicBezTo>
                  <a:pt x="307360" y="34850"/>
                  <a:pt x="319941" y="18718"/>
                  <a:pt x="337559" y="12847"/>
                </a:cubicBezTo>
                <a:lnTo>
                  <a:pt x="350378" y="8575"/>
                </a:lnTo>
                <a:cubicBezTo>
                  <a:pt x="370318" y="11423"/>
                  <a:pt x="390535" y="12751"/>
                  <a:pt x="410198" y="17120"/>
                </a:cubicBezTo>
                <a:cubicBezTo>
                  <a:pt x="416416" y="18502"/>
                  <a:pt x="421247" y="23652"/>
                  <a:pt x="427290" y="25666"/>
                </a:cubicBezTo>
                <a:cubicBezTo>
                  <a:pt x="434180" y="27963"/>
                  <a:pt x="441533" y="28515"/>
                  <a:pt x="448655" y="29939"/>
                </a:cubicBezTo>
                <a:cubicBezTo>
                  <a:pt x="519843" y="19769"/>
                  <a:pt x="488488" y="23891"/>
                  <a:pt x="542658" y="17120"/>
                </a:cubicBezTo>
                <a:cubicBezTo>
                  <a:pt x="555477" y="21393"/>
                  <a:pt x="568641" y="24742"/>
                  <a:pt x="581114" y="29939"/>
                </a:cubicBezTo>
                <a:cubicBezTo>
                  <a:pt x="585854" y="31914"/>
                  <a:pt x="588843" y="37806"/>
                  <a:pt x="593933" y="38485"/>
                </a:cubicBezTo>
                <a:cubicBezTo>
                  <a:pt x="632156" y="43582"/>
                  <a:pt x="670862" y="43956"/>
                  <a:pt x="709301" y="47031"/>
                </a:cubicBezTo>
                <a:lnTo>
                  <a:pt x="807578" y="55576"/>
                </a:lnTo>
                <a:cubicBezTo>
                  <a:pt x="810427" y="59849"/>
                  <a:pt x="812114" y="65187"/>
                  <a:pt x="816124" y="68395"/>
                </a:cubicBezTo>
                <a:cubicBezTo>
                  <a:pt x="819641" y="71209"/>
                  <a:pt x="824802" y="70894"/>
                  <a:pt x="828942" y="72668"/>
                </a:cubicBezTo>
                <a:cubicBezTo>
                  <a:pt x="834797" y="75177"/>
                  <a:pt x="840632" y="77838"/>
                  <a:pt x="846034" y="81214"/>
                </a:cubicBezTo>
                <a:cubicBezTo>
                  <a:pt x="858503" y="89007"/>
                  <a:pt x="859853" y="90760"/>
                  <a:pt x="867398" y="98305"/>
                </a:cubicBezTo>
              </a:path>
            </a:pathLst>
          </a:custGeom>
          <a:solidFill>
            <a:srgbClr val="FFFF00"/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EAC97E6-988E-CDAD-B941-085D966900EE}"/>
              </a:ext>
            </a:extLst>
          </p:cNvPr>
          <p:cNvSpPr txBox="1"/>
          <p:nvPr/>
        </p:nvSpPr>
        <p:spPr>
          <a:xfrm>
            <a:off x="9235084" y="454713"/>
            <a:ext cx="301686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6722B3A-3E95-1D43-DE4E-92FDC0F591CC}"/>
              </a:ext>
            </a:extLst>
          </p:cNvPr>
          <p:cNvSpPr txBox="1"/>
          <p:nvPr/>
        </p:nvSpPr>
        <p:spPr>
          <a:xfrm>
            <a:off x="9235084" y="1352863"/>
            <a:ext cx="301686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2C03DD2-337B-452D-CF03-69D2224148BD}"/>
              </a:ext>
            </a:extLst>
          </p:cNvPr>
          <p:cNvSpPr txBox="1"/>
          <p:nvPr/>
        </p:nvSpPr>
        <p:spPr>
          <a:xfrm>
            <a:off x="9024482" y="4181162"/>
            <a:ext cx="301686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EF8D4EC-E42B-02CE-CA84-EC9C59F93977}"/>
              </a:ext>
            </a:extLst>
          </p:cNvPr>
          <p:cNvSpPr txBox="1"/>
          <p:nvPr/>
        </p:nvSpPr>
        <p:spPr>
          <a:xfrm>
            <a:off x="8933398" y="5263978"/>
            <a:ext cx="301686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A704207-424A-34BD-5D04-4283040CEA0E}"/>
              </a:ext>
            </a:extLst>
          </p:cNvPr>
          <p:cNvSpPr txBox="1"/>
          <p:nvPr/>
        </p:nvSpPr>
        <p:spPr>
          <a:xfrm>
            <a:off x="5794314" y="3368870"/>
            <a:ext cx="301686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80EFCD4-7A3E-2E97-AC2F-DF9D75512AD1}"/>
              </a:ext>
            </a:extLst>
          </p:cNvPr>
          <p:cNvSpPr txBox="1"/>
          <p:nvPr/>
        </p:nvSpPr>
        <p:spPr>
          <a:xfrm>
            <a:off x="6096000" y="5871376"/>
            <a:ext cx="875561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Sample</a:t>
            </a:r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36A04855-DDD8-9247-D3BD-11A18949C2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870" y="504729"/>
            <a:ext cx="3560373" cy="5486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7841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</TotalTime>
  <Words>622</Words>
  <Application>Microsoft Office PowerPoint</Application>
  <PresentationFormat>Widescreen</PresentationFormat>
  <Paragraphs>100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Manrope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Pratik Dhar</dc:creator>
  <cp:lastModifiedBy>Pratik Dhar</cp:lastModifiedBy>
  <cp:revision>2</cp:revision>
  <dcterms:created xsi:type="dcterms:W3CDTF">2026-07-29T10:20:55Z</dcterms:created>
  <dcterms:modified xsi:type="dcterms:W3CDTF">2026-07-31T20:04:42Z</dcterms:modified>
</cp:coreProperties>
</file>