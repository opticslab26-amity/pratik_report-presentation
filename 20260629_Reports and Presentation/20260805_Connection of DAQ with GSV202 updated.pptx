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CB7A0B-0954-4F56-B1D8-416A5D800DD5}" v="64" dt="2026-08-09T19:15:49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F7FB-C9DF-4998-AB83-EAA387D97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37031-3600-1B97-80A4-6503B65C7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DE99A-A67B-500E-1954-C2ADE5A4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CBFC-8091-30AA-334D-3D1B6CD5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D4CB5-E3DD-1AEA-2549-44FD7D96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4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E738-6B60-BE61-762F-3A430CA2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0CCBC-381C-3A9A-0A95-5E421414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B00D-5AFE-CC08-58CC-729C8C95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9600-1A1F-9AEF-5173-7131307B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327D1-B2E6-AC2D-A62C-FB89D928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1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F765-5C9E-043B-98AF-1431258C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ED46C-E8D2-971F-CF6F-4DFDC025F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DC2D7-ABE3-1183-72A6-841D6F1C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1136B-7AD0-5F87-3B62-765F8169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CF36E-70B0-9E68-4A0A-067749F1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3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4410-9956-92D8-840D-6003CEEA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85C7-5A6D-4232-9374-C6BF5AB85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5BFD5-8AA2-9276-D9AF-65BE9E7FE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A883D-3F49-D7F0-C5AE-FB0A150B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4965A-B39A-73F1-9BEA-D2B1311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7BF60-7C66-F9DF-063C-5664F7C8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3908-DB95-DEA7-B1DA-ED811E0C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23893-DD7E-A445-1B8D-9A7AB2D30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D5CFE-ACF6-7374-B3A7-080EB9D1E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10034-24E3-D1A6-C04E-429ADF174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CD238-3647-4076-EB0C-45F3AF423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964DE-9EFA-ECF7-76F3-7058915A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4239C-A537-F24E-FBDA-7A5FB67A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E85CD-9B47-C001-ECDC-2107AA87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FC0A-1B0E-EA4C-1BE1-546DA104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7DE9C-C24F-EF85-FDCB-5746095D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8E541-1BF9-467E-FCE3-5F49B393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44988-27E7-04A5-4F02-7324B1AC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8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0A161-9F14-E6D9-1923-A11D181B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F1A56-6913-0511-ACEF-AAF95CC1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6D0BF-36EA-D501-2715-94EBE0EB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61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A024-86FA-0BFE-D1E6-21B80F45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C0D5-0832-9CA3-31FA-D1A121E06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CC046-F2A4-230B-59EA-965A1DFB9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C5E03-5D6E-D9AD-2519-A4AC677D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74C4A-D89B-EBA4-1349-9123C1A1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EE9CF-8A7C-C066-A41E-23806478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8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0485-FC0E-ED1F-BB7F-D69CA93D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EED64-E6B8-AAA1-B284-C44C9FDC2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307AA-1C49-45BD-E091-6E02C0B5B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F87C6-942E-9334-98D0-625711DB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00900-3955-2427-C4A0-BE691D10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2CD13-EE35-1150-7C68-0536E394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1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AEBE-4B7C-9563-2199-DE619226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9253F-6FE7-03C8-56F0-1E74CB942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68A4C-AFB3-D3B5-09AC-53341B9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02736-10BF-8E3C-FC25-52136BC2F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53AE-B9A9-530F-0146-8DE8C900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1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A3282-D496-2DFE-E3C2-7AD90DCF8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2513A-7594-E1A3-A8FD-0D723938E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535E1-55D8-345B-B9DE-9572D8AF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E76D4-25BF-C5F0-D2B6-1ACE97B0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5AE98-9B74-58F3-1EE2-B34EE13D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2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540B5-4ED3-12C9-96D5-1A5C10BD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0DA4A-1984-0589-FBA5-53222864E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F9DE1-5069-9BC4-E29D-9170CF4BA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172C0-20FB-445E-96EE-FC391555D24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27B6-51BE-2F50-9701-E075E4C1D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4AA80-4727-CF52-B2B5-74052DB98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E4072-D091-4305-9908-725FB527B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ndustrialmonitordirect.com/blogs/knowledgebase/configuring-labview-daqmx-for-galvo-scanner-las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58ECC-2736-B02A-0CC5-57B6D77CD466}"/>
              </a:ext>
            </a:extLst>
          </p:cNvPr>
          <p:cNvSpPr txBox="1"/>
          <p:nvPr/>
        </p:nvSpPr>
        <p:spPr>
          <a:xfrm>
            <a:off x="2813242" y="127820"/>
            <a:ext cx="666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Connection of PCIe express card (DAC) with Galvo-scanner (GVS202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2CF10-73D7-E802-7ADE-8214580324F3}"/>
              </a:ext>
            </a:extLst>
          </p:cNvPr>
          <p:cNvSpPr txBox="1"/>
          <p:nvPr/>
        </p:nvSpPr>
        <p:spPr>
          <a:xfrm>
            <a:off x="319115" y="615364"/>
            <a:ext cx="7763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Mechanical installation : A post adaptor need to fit with the XY mounting block then a lens post is required to fit into the bottom of the post adapter and clamp it to the breadboard which is shown in fig 1.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E8FB8-024D-F250-4059-045DC96F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424" y="659896"/>
            <a:ext cx="3377810" cy="28556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998744-66EA-D6BC-E556-44B8D6E14732}"/>
              </a:ext>
            </a:extLst>
          </p:cNvPr>
          <p:cNvSpPr txBox="1"/>
          <p:nvPr/>
        </p:nvSpPr>
        <p:spPr>
          <a:xfrm>
            <a:off x="8504709" y="350520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F1DC7-27F6-5C98-2678-43DAC896DB0A}"/>
              </a:ext>
            </a:extLst>
          </p:cNvPr>
          <p:cNvSpPr txBox="1"/>
          <p:nvPr/>
        </p:nvSpPr>
        <p:spPr>
          <a:xfrm>
            <a:off x="250289" y="1924977"/>
            <a:ext cx="217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Electrical Installation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4AF3B-6C52-06DC-A70E-4F8268D16ABD}"/>
              </a:ext>
            </a:extLst>
          </p:cNvPr>
          <p:cNvSpPr txBox="1"/>
          <p:nvPr/>
        </p:nvSpPr>
        <p:spPr>
          <a:xfrm>
            <a:off x="151966" y="2580236"/>
            <a:ext cx="82939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galvo motor system associated with driver board and connecting cables are tuned at the factory before they are shipped, and further adjustment is not necessary.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During installation, the motors should be connected to the driver card to which they were tuned. Both the motor and the driver card should carry the same serial number.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power the galvo controller board the linear power supply GPS011 will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For controlling the galvo-scanner, the driver card requires the voltage from </a:t>
            </a:r>
            <a:r>
              <a:rPr lang="en-US" dirty="0">
                <a:highlight>
                  <a:srgbClr val="FFFF00"/>
                </a:highlight>
              </a:rPr>
              <a:t>-15V to +15V or -18V to +18V</a:t>
            </a:r>
            <a:r>
              <a:rPr lang="en-US" dirty="0"/>
              <a:t>, which allows the motor to rotate in both clockwise and counterclockwise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powering on, the input voltage range and fuse rating match with the local mains supply should be verified</a:t>
            </a:r>
          </a:p>
          <a:p>
            <a:pPr algn="just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A27E8C-8E6B-A421-89DE-594D7BE5F691}"/>
              </a:ext>
            </a:extLst>
          </p:cNvPr>
          <p:cNvCxnSpPr/>
          <p:nvPr/>
        </p:nvCxnSpPr>
        <p:spPr>
          <a:xfrm>
            <a:off x="10171090" y="3123888"/>
            <a:ext cx="0" cy="565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1D1F6E-95F1-763D-B1BB-96D7206D9AC7}"/>
              </a:ext>
            </a:extLst>
          </p:cNvPr>
          <p:cNvCxnSpPr/>
          <p:nvPr/>
        </p:nvCxnSpPr>
        <p:spPr>
          <a:xfrm>
            <a:off x="9378757" y="2133600"/>
            <a:ext cx="0" cy="17993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7BFF97-1C4C-2434-80D0-C0841069AAEB}"/>
              </a:ext>
            </a:extLst>
          </p:cNvPr>
          <p:cNvSpPr txBox="1"/>
          <p:nvPr/>
        </p:nvSpPr>
        <p:spPr>
          <a:xfrm>
            <a:off x="8558370" y="3902162"/>
            <a:ext cx="13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adapter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8D34592-15FA-7623-98B6-89E03E8D0CDD}"/>
              </a:ext>
            </a:extLst>
          </p:cNvPr>
          <p:cNvCxnSpPr/>
          <p:nvPr/>
        </p:nvCxnSpPr>
        <p:spPr>
          <a:xfrm rot="16200000" flipH="1">
            <a:off x="10211872" y="2039120"/>
            <a:ext cx="1895480" cy="110121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2E5D589-B834-B255-A282-AF05D8C71A10}"/>
              </a:ext>
            </a:extLst>
          </p:cNvPr>
          <p:cNvSpPr txBox="1"/>
          <p:nvPr/>
        </p:nvSpPr>
        <p:spPr>
          <a:xfrm>
            <a:off x="9636008" y="3532830"/>
            <a:ext cx="107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Lens post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1BF9D6-6120-3EB1-6C6F-925022E017A3}"/>
              </a:ext>
            </a:extLst>
          </p:cNvPr>
          <p:cNvSpPr txBox="1"/>
          <p:nvPr/>
        </p:nvSpPr>
        <p:spPr>
          <a:xfrm>
            <a:off x="10668634" y="3505200"/>
            <a:ext cx="137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XY mounting block</a:t>
            </a:r>
          </a:p>
        </p:txBody>
      </p:sp>
    </p:spTree>
    <p:extLst>
      <p:ext uri="{BB962C8B-B14F-4D97-AF65-F5344CB8AC3E}">
        <p14:creationId xmlns:p14="http://schemas.microsoft.com/office/powerpoint/2010/main" val="39360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6DF87F-0C0B-E3FC-E084-DA73333DFD54}"/>
              </a:ext>
            </a:extLst>
          </p:cNvPr>
          <p:cNvSpPr txBox="1"/>
          <p:nvPr/>
        </p:nvSpPr>
        <p:spPr>
          <a:xfrm>
            <a:off x="250724" y="87410"/>
            <a:ext cx="551098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 Electrical Connection Procedure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dirty="0"/>
              <a:t>Power connection to the driver board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 the correct voltage is selected on PSU before connecting it to the driver board.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Connect the power supply from PSU to </a:t>
            </a:r>
            <a:r>
              <a:rPr lang="en-US" dirty="0">
                <a:highlight>
                  <a:srgbClr val="FFFF00"/>
                </a:highlight>
              </a:rPr>
              <a:t>J10 power connector </a:t>
            </a:r>
            <a:r>
              <a:rPr lang="en-US" dirty="0"/>
              <a:t>on each servo driver board.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 the correct polarity (+V, GND, −V)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dirty="0"/>
              <a:t>Connection of galvo motor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motor cable must be connect to </a:t>
            </a:r>
            <a:r>
              <a:rPr lang="en-US" dirty="0">
                <a:highlight>
                  <a:srgbClr val="FFFF00"/>
                </a:highlight>
              </a:rPr>
              <a:t>J9 connector </a:t>
            </a:r>
            <a:r>
              <a:rPr lang="en-US" dirty="0"/>
              <a:t>on the driver board.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galvo motor must be connect to its corresponding driver board with the same serial number to maintain calibration and performance.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dirty="0"/>
              <a:t> Connection of DAQ device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PCIe Data Acquisition (DAQ) card is used to generate the analog control signals for the X- and Y-axis galvanometer scanners.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The analog output (AO) channels of the PCIe DAQ must be connect to the </a:t>
            </a:r>
            <a:r>
              <a:rPr lang="en-US" dirty="0">
                <a:highlight>
                  <a:srgbClr val="FFFF00"/>
                </a:highlight>
              </a:rPr>
              <a:t>J7 command input connecto</a:t>
            </a:r>
            <a:r>
              <a:rPr lang="en-US" dirty="0"/>
              <a:t>r of each galvo driver board.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9DBFC6-810A-F646-A31F-A022CCDF4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194" y="87410"/>
            <a:ext cx="3313036" cy="2419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C7BB1D-1C5D-E807-72A9-F6168379F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720" y="0"/>
            <a:ext cx="2639365" cy="2625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A57F69-70AE-18B7-3C68-73F3A68C0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034" y="3004372"/>
            <a:ext cx="3368332" cy="31016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7F4E99-D2E6-B353-3D90-516A65053F0D}"/>
              </a:ext>
            </a:extLst>
          </p:cNvPr>
          <p:cNvSpPr txBox="1"/>
          <p:nvPr/>
        </p:nvSpPr>
        <p:spPr>
          <a:xfrm>
            <a:off x="5850194" y="2544481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2(a) J10 pin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0F0230-5676-0BD7-EC67-7E95314347A8}"/>
              </a:ext>
            </a:extLst>
          </p:cNvPr>
          <p:cNvSpPr txBox="1"/>
          <p:nvPr/>
        </p:nvSpPr>
        <p:spPr>
          <a:xfrm>
            <a:off x="9638187" y="2578507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2(b) J9 pin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23AFE-96AF-E067-A2AB-342937FD31A4}"/>
              </a:ext>
            </a:extLst>
          </p:cNvPr>
          <p:cNvSpPr txBox="1"/>
          <p:nvPr/>
        </p:nvSpPr>
        <p:spPr>
          <a:xfrm>
            <a:off x="7155034" y="610598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2(c) J7</a:t>
            </a:r>
          </a:p>
        </p:txBody>
      </p:sp>
    </p:spTree>
    <p:extLst>
      <p:ext uri="{BB962C8B-B14F-4D97-AF65-F5344CB8AC3E}">
        <p14:creationId xmlns:p14="http://schemas.microsoft.com/office/powerpoint/2010/main" val="366925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D4B466-BF7D-1249-7C89-849F4C10797C}"/>
              </a:ext>
            </a:extLst>
          </p:cNvPr>
          <p:cNvSpPr txBox="1"/>
          <p:nvPr/>
        </p:nvSpPr>
        <p:spPr>
          <a:xfrm>
            <a:off x="0" y="178333"/>
            <a:ext cx="90306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   Connection for signal monitoring</a:t>
            </a:r>
          </a:p>
          <a:p>
            <a:pPr lvl="0" algn="just"/>
            <a:r>
              <a:rPr lang="en-US" dirty="0"/>
              <a:t>        An oscilloscope is required to connect to </a:t>
            </a:r>
            <a:r>
              <a:rPr lang="en-US" dirty="0">
                <a:highlight>
                  <a:srgbClr val="FFFF00"/>
                </a:highlight>
              </a:rPr>
              <a:t>J6 connector </a:t>
            </a:r>
            <a:r>
              <a:rPr lang="en-US" dirty="0"/>
              <a:t>to observe signals such as mirror</a:t>
            </a:r>
          </a:p>
          <a:p>
            <a:pPr lvl="0" algn="just"/>
            <a:r>
              <a:rPr lang="en-US" dirty="0"/>
              <a:t>        position, position error, motor current and coil voltage during operation. The scanning</a:t>
            </a:r>
          </a:p>
          <a:p>
            <a:pPr lvl="0" algn="just"/>
            <a:r>
              <a:rPr lang="en-US" dirty="0"/>
              <a:t>        mirror position is proportional to the signal voltage, with a scaling factor of </a:t>
            </a:r>
            <a:r>
              <a:rPr lang="en-US" dirty="0">
                <a:highlight>
                  <a:srgbClr val="00FFFF"/>
                </a:highlight>
              </a:rPr>
              <a:t>0.5 Volt per</a:t>
            </a:r>
          </a:p>
          <a:p>
            <a:pPr algn="just"/>
            <a:r>
              <a:rPr lang="en-US" dirty="0"/>
              <a:t>        </a:t>
            </a:r>
            <a:r>
              <a:rPr lang="en-US" dirty="0">
                <a:highlight>
                  <a:srgbClr val="00FFFF"/>
                </a:highlight>
              </a:rPr>
              <a:t>degree of mechanical movement. </a:t>
            </a:r>
          </a:p>
          <a:p>
            <a:pPr lvl="0" algn="just"/>
            <a:endParaRPr lang="en-US" dirty="0"/>
          </a:p>
          <a:p>
            <a:pPr lvl="0"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7C8CB3-F78C-8C0A-D405-743E0A18D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507" y="34339"/>
            <a:ext cx="3082691" cy="2964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73482A-AC58-F84F-24C8-E49D2AC1695A}"/>
              </a:ext>
            </a:extLst>
          </p:cNvPr>
          <p:cNvSpPr txBox="1"/>
          <p:nvPr/>
        </p:nvSpPr>
        <p:spPr>
          <a:xfrm>
            <a:off x="8974507" y="2975802"/>
            <a:ext cx="193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3: J6 connector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656946-B98B-6F16-D5CE-B40F7DAA2BCB}"/>
              </a:ext>
            </a:extLst>
          </p:cNvPr>
          <p:cNvSpPr txBox="1"/>
          <p:nvPr/>
        </p:nvSpPr>
        <p:spPr>
          <a:xfrm>
            <a:off x="432619" y="1755491"/>
            <a:ext cx="387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Flow Chart of electrical connection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154C0-61D7-0410-C6A9-075B2FB0002E}"/>
              </a:ext>
            </a:extLst>
          </p:cNvPr>
          <p:cNvSpPr txBox="1"/>
          <p:nvPr/>
        </p:nvSpPr>
        <p:spPr>
          <a:xfrm>
            <a:off x="556215" y="2348934"/>
            <a:ext cx="112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122FD3-3E6F-A596-807B-11FF1D1EB256}"/>
              </a:ext>
            </a:extLst>
          </p:cNvPr>
          <p:cNvSpPr txBox="1"/>
          <p:nvPr/>
        </p:nvSpPr>
        <p:spPr>
          <a:xfrm>
            <a:off x="319441" y="3372632"/>
            <a:ext cx="1093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PCIe DAQ       ( maximum voltage provide -10V to +10V, it is command voltage not the voltage to power the motor)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9B44F7-1551-CD45-4C3E-705D6FC1FD98}"/>
              </a:ext>
            </a:extLst>
          </p:cNvPr>
          <p:cNvSpPr txBox="1"/>
          <p:nvPr/>
        </p:nvSpPr>
        <p:spPr>
          <a:xfrm>
            <a:off x="317651" y="4324313"/>
            <a:ext cx="2553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Servo driver circuit 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5FDEE7-47A0-30FC-B6CB-8AEF9345FA70}"/>
              </a:ext>
            </a:extLst>
          </p:cNvPr>
          <p:cNvSpPr txBox="1"/>
          <p:nvPr/>
        </p:nvSpPr>
        <p:spPr>
          <a:xfrm>
            <a:off x="3821670" y="4333568"/>
            <a:ext cx="5825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GPS011   ( voltage range from -15V to +15V to -18V to +18V)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F6501-E79F-B5A4-9002-E7FD403EEB5E}"/>
              </a:ext>
            </a:extLst>
          </p:cNvPr>
          <p:cNvSpPr txBox="1"/>
          <p:nvPr/>
        </p:nvSpPr>
        <p:spPr>
          <a:xfrm>
            <a:off x="372826" y="5462892"/>
            <a:ext cx="140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Galvo motor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CB8F4-C593-7ED1-21FC-36E849DA0340}"/>
              </a:ext>
            </a:extLst>
          </p:cNvPr>
          <p:cNvSpPr txBox="1"/>
          <p:nvPr/>
        </p:nvSpPr>
        <p:spPr>
          <a:xfrm>
            <a:off x="300209" y="6318488"/>
            <a:ext cx="225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Mirror reaches +5 deg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7F1C64-0564-8C30-E67A-DF23A4DF43D2}"/>
              </a:ext>
            </a:extLst>
          </p:cNvPr>
          <p:cNvCxnSpPr>
            <a:cxnSpLocks/>
          </p:cNvCxnSpPr>
          <p:nvPr/>
        </p:nvCxnSpPr>
        <p:spPr>
          <a:xfrm>
            <a:off x="1134132" y="2739742"/>
            <a:ext cx="0" cy="6892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FD972F-AF74-091A-52AC-6962D858E22D}"/>
              </a:ext>
            </a:extLst>
          </p:cNvPr>
          <p:cNvCxnSpPr>
            <a:cxnSpLocks/>
          </p:cNvCxnSpPr>
          <p:nvPr/>
        </p:nvCxnSpPr>
        <p:spPr>
          <a:xfrm>
            <a:off x="1120183" y="3806343"/>
            <a:ext cx="0" cy="5179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29E329-3A24-BC0C-E35F-C6960DFE567E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2870786" y="4508979"/>
            <a:ext cx="925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A46270-A9F2-AC14-39AF-6EBEB50D1E85}"/>
              </a:ext>
            </a:extLst>
          </p:cNvPr>
          <p:cNvCxnSpPr>
            <a:cxnSpLocks/>
          </p:cNvCxnSpPr>
          <p:nvPr/>
        </p:nvCxnSpPr>
        <p:spPr>
          <a:xfrm>
            <a:off x="1222167" y="4693645"/>
            <a:ext cx="0" cy="8330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8FA06EF-BB4E-1CCB-B4F9-063A861CDEAA}"/>
              </a:ext>
            </a:extLst>
          </p:cNvPr>
          <p:cNvSpPr txBox="1"/>
          <p:nvPr/>
        </p:nvSpPr>
        <p:spPr>
          <a:xfrm>
            <a:off x="1222166" y="4971888"/>
            <a:ext cx="794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/>
              <a:t>Servo driver read this command voltage 2.5V and takes the power from GPS011</a:t>
            </a:r>
            <a:r>
              <a:rPr lang="en-US" i="1" dirty="0"/>
              <a:t>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BDAC7F2-B3BD-D126-2FC8-F6CBF9075FC0}"/>
              </a:ext>
            </a:extLst>
          </p:cNvPr>
          <p:cNvCxnSpPr>
            <a:cxnSpLocks/>
          </p:cNvCxnSpPr>
          <p:nvPr/>
        </p:nvCxnSpPr>
        <p:spPr>
          <a:xfrm>
            <a:off x="1157220" y="5832224"/>
            <a:ext cx="0" cy="4771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33E421A-7CD1-F208-809D-BF40C60AAC76}"/>
              </a:ext>
            </a:extLst>
          </p:cNvPr>
          <p:cNvSpPr txBox="1"/>
          <p:nvPr/>
        </p:nvSpPr>
        <p:spPr>
          <a:xfrm>
            <a:off x="1181438" y="3767307"/>
            <a:ext cx="7007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/>
              <a:t>For 5 deg rotation the PCIe serves 2.5V, calculated from scaling factor </a:t>
            </a:r>
            <a:r>
              <a:rPr lang="en-US" i="1" dirty="0"/>
              <a:t>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58D3E4E-162D-754F-D3DC-FD51D5247BA7}"/>
              </a:ext>
            </a:extLst>
          </p:cNvPr>
          <p:cNvCxnSpPr>
            <a:cxnSpLocks/>
          </p:cNvCxnSpPr>
          <p:nvPr/>
        </p:nvCxnSpPr>
        <p:spPr>
          <a:xfrm flipH="1">
            <a:off x="9478085" y="4528344"/>
            <a:ext cx="629605" cy="31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89F4C9B-7ECD-68FD-7588-EDFD1BEB5993}"/>
              </a:ext>
            </a:extLst>
          </p:cNvPr>
          <p:cNvSpPr txBox="1"/>
          <p:nvPr/>
        </p:nvSpPr>
        <p:spPr>
          <a:xfrm>
            <a:off x="10074026" y="4333569"/>
            <a:ext cx="198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power supply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DA4AAA-AC55-A8BB-198F-C29926F02586}"/>
              </a:ext>
            </a:extLst>
          </p:cNvPr>
          <p:cNvSpPr txBox="1"/>
          <p:nvPr/>
        </p:nvSpPr>
        <p:spPr>
          <a:xfrm>
            <a:off x="709842" y="383851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J7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825724-7BD8-A40D-A5B9-5A8BC5E59876}"/>
              </a:ext>
            </a:extLst>
          </p:cNvPr>
          <p:cNvSpPr txBox="1"/>
          <p:nvPr/>
        </p:nvSpPr>
        <p:spPr>
          <a:xfrm>
            <a:off x="3130148" y="460255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J10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94EE5D-2769-D775-2240-EC8E2940D49A}"/>
              </a:ext>
            </a:extLst>
          </p:cNvPr>
          <p:cNvSpPr txBox="1"/>
          <p:nvPr/>
        </p:nvSpPr>
        <p:spPr>
          <a:xfrm>
            <a:off x="700704" y="499477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J9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A345CCA-5628-AD34-D3FC-744758DF6BA7}"/>
              </a:ext>
            </a:extLst>
          </p:cNvPr>
          <p:cNvCxnSpPr>
            <a:cxnSpLocks/>
          </p:cNvCxnSpPr>
          <p:nvPr/>
        </p:nvCxnSpPr>
        <p:spPr>
          <a:xfrm flipV="1">
            <a:off x="1069456" y="4702901"/>
            <a:ext cx="0" cy="7967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A7193D7-BB7F-0D75-9236-6E2EB980AC87}"/>
              </a:ext>
            </a:extLst>
          </p:cNvPr>
          <p:cNvSpPr/>
          <p:nvPr/>
        </p:nvSpPr>
        <p:spPr>
          <a:xfrm>
            <a:off x="556216" y="2348934"/>
            <a:ext cx="1127936" cy="378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E0C471-62E1-277A-65A2-7ED8D1D3E2A7}"/>
              </a:ext>
            </a:extLst>
          </p:cNvPr>
          <p:cNvSpPr/>
          <p:nvPr/>
        </p:nvSpPr>
        <p:spPr>
          <a:xfrm>
            <a:off x="521300" y="3409386"/>
            <a:ext cx="1127931" cy="360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7E863F-A495-21AB-0B70-9E2417A6818C}"/>
              </a:ext>
            </a:extLst>
          </p:cNvPr>
          <p:cNvSpPr/>
          <p:nvPr/>
        </p:nvSpPr>
        <p:spPr>
          <a:xfrm>
            <a:off x="292637" y="4333569"/>
            <a:ext cx="2553135" cy="357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39C814-7DDA-F56B-03BE-8E3B25F0F25C}"/>
              </a:ext>
            </a:extLst>
          </p:cNvPr>
          <p:cNvSpPr/>
          <p:nvPr/>
        </p:nvSpPr>
        <p:spPr>
          <a:xfrm>
            <a:off x="372826" y="5499662"/>
            <a:ext cx="1406604" cy="3569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249972-40C2-0FB2-B8E3-F70AB742E1A7}"/>
              </a:ext>
            </a:extLst>
          </p:cNvPr>
          <p:cNvSpPr/>
          <p:nvPr/>
        </p:nvSpPr>
        <p:spPr>
          <a:xfrm>
            <a:off x="292637" y="6331760"/>
            <a:ext cx="2266204" cy="347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5F1641-BA80-65DE-3E89-AAFE8DAEF387}"/>
              </a:ext>
            </a:extLst>
          </p:cNvPr>
          <p:cNvSpPr/>
          <p:nvPr/>
        </p:nvSpPr>
        <p:spPr>
          <a:xfrm>
            <a:off x="3796656" y="4324313"/>
            <a:ext cx="925870" cy="375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C25C88-BE15-D057-3FF8-3C149BBF741A}"/>
              </a:ext>
            </a:extLst>
          </p:cNvPr>
          <p:cNvSpPr/>
          <p:nvPr/>
        </p:nvSpPr>
        <p:spPr>
          <a:xfrm>
            <a:off x="10107690" y="4333569"/>
            <a:ext cx="1868000" cy="375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6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19AFB7-515B-C546-ED0E-4B94CA88BFB6}"/>
              </a:ext>
            </a:extLst>
          </p:cNvPr>
          <p:cNvSpPr txBox="1"/>
          <p:nvPr/>
        </p:nvSpPr>
        <p:spPr>
          <a:xfrm>
            <a:off x="2690131" y="78658"/>
            <a:ext cx="6811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Controlling Galvo-scanner with analogue signal using LabVIEW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9E428-CF12-2C09-FAE5-29D9738B118C}"/>
              </a:ext>
            </a:extLst>
          </p:cNvPr>
          <p:cNvSpPr txBox="1"/>
          <p:nvPr/>
        </p:nvSpPr>
        <p:spPr>
          <a:xfrm>
            <a:off x="4886631" y="552753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A95E1B-E478-BC4D-833F-3648A6D53576}"/>
              </a:ext>
            </a:extLst>
          </p:cNvPr>
          <p:cNvSpPr/>
          <p:nvPr/>
        </p:nvSpPr>
        <p:spPr>
          <a:xfrm>
            <a:off x="4886632" y="542921"/>
            <a:ext cx="102143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D53E2D-4E5D-4384-E1C7-611525AFBF8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397349" y="912253"/>
            <a:ext cx="0" cy="3595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D55436-9CB2-5901-1D63-55DC0FFE342A}"/>
              </a:ext>
            </a:extLst>
          </p:cNvPr>
          <p:cNvSpPr txBox="1"/>
          <p:nvPr/>
        </p:nvSpPr>
        <p:spPr>
          <a:xfrm>
            <a:off x="4109884" y="1281585"/>
            <a:ext cx="296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analog output channel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C5472C-6816-C7FA-505D-5F6C124F81F3}"/>
              </a:ext>
            </a:extLst>
          </p:cNvPr>
          <p:cNvSpPr/>
          <p:nvPr/>
        </p:nvSpPr>
        <p:spPr>
          <a:xfrm>
            <a:off x="4041058" y="1281585"/>
            <a:ext cx="296786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792A49-49B3-7522-B8A4-307D474A5568}"/>
              </a:ext>
            </a:extLst>
          </p:cNvPr>
          <p:cNvCxnSpPr>
            <a:cxnSpLocks/>
          </p:cNvCxnSpPr>
          <p:nvPr/>
        </p:nvCxnSpPr>
        <p:spPr>
          <a:xfrm>
            <a:off x="3706368" y="1466251"/>
            <a:ext cx="0" cy="3320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6DAE9F-F9CB-9EB3-0B09-D498094FD6D1}"/>
              </a:ext>
            </a:extLst>
          </p:cNvPr>
          <p:cNvCxnSpPr>
            <a:cxnSpLocks/>
          </p:cNvCxnSpPr>
          <p:nvPr/>
        </p:nvCxnSpPr>
        <p:spPr>
          <a:xfrm>
            <a:off x="7327392" y="1466251"/>
            <a:ext cx="0" cy="3320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F1C7CB-8EC4-F16C-AFEF-B55FEC11C80C}"/>
              </a:ext>
            </a:extLst>
          </p:cNvPr>
          <p:cNvCxnSpPr>
            <a:stCxn id="10" idx="3"/>
          </p:cNvCxnSpPr>
          <p:nvPr/>
        </p:nvCxnSpPr>
        <p:spPr>
          <a:xfrm>
            <a:off x="7008922" y="1466251"/>
            <a:ext cx="3184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EEEA63-AC6B-EA2D-7A60-E5D5FB888EAA}"/>
              </a:ext>
            </a:extLst>
          </p:cNvPr>
          <p:cNvCxnSpPr>
            <a:stCxn id="10" idx="1"/>
          </p:cNvCxnSpPr>
          <p:nvPr/>
        </p:nvCxnSpPr>
        <p:spPr>
          <a:xfrm flipH="1">
            <a:off x="3706368" y="1466251"/>
            <a:ext cx="3346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DB6935D-A5BE-9DD7-7BF0-468320F80285}"/>
              </a:ext>
            </a:extLst>
          </p:cNvPr>
          <p:cNvSpPr txBox="1"/>
          <p:nvPr/>
        </p:nvSpPr>
        <p:spPr>
          <a:xfrm>
            <a:off x="3134586" y="1792981"/>
            <a:ext cx="117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AO0 X-axis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E9251-5D6F-7DB4-76BA-EF3D569FE371}"/>
              </a:ext>
            </a:extLst>
          </p:cNvPr>
          <p:cNvSpPr txBox="1"/>
          <p:nvPr/>
        </p:nvSpPr>
        <p:spPr>
          <a:xfrm>
            <a:off x="6708119" y="1788095"/>
            <a:ext cx="1170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AO1 Y-axis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0EC25E-239D-BCE5-1DF5-31F671D0D731}"/>
              </a:ext>
            </a:extLst>
          </p:cNvPr>
          <p:cNvSpPr/>
          <p:nvPr/>
        </p:nvSpPr>
        <p:spPr>
          <a:xfrm>
            <a:off x="3091293" y="1798993"/>
            <a:ext cx="1221949" cy="351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E8CD35-2EFA-E2EC-45E4-1A393682A8BF}"/>
              </a:ext>
            </a:extLst>
          </p:cNvPr>
          <p:cNvSpPr/>
          <p:nvPr/>
        </p:nvSpPr>
        <p:spPr>
          <a:xfrm>
            <a:off x="6699390" y="1804057"/>
            <a:ext cx="1170641" cy="351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D3E2253-C750-BC07-EB1D-87356F5A68EF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3701580" y="2150037"/>
            <a:ext cx="688" cy="1543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3FEF8F9-17A8-B9D4-734C-796DADA09B57}"/>
              </a:ext>
            </a:extLst>
          </p:cNvPr>
          <p:cNvCxnSpPr>
            <a:cxnSpLocks/>
          </p:cNvCxnSpPr>
          <p:nvPr/>
        </p:nvCxnSpPr>
        <p:spPr>
          <a:xfrm>
            <a:off x="3701580" y="2311146"/>
            <a:ext cx="37236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604641-18EC-C502-963F-3ACB93A7086A}"/>
              </a:ext>
            </a:extLst>
          </p:cNvPr>
          <p:cNvCxnSpPr>
            <a:cxnSpLocks/>
          </p:cNvCxnSpPr>
          <p:nvPr/>
        </p:nvCxnSpPr>
        <p:spPr>
          <a:xfrm>
            <a:off x="7447554" y="2157427"/>
            <a:ext cx="0" cy="1469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783A46A-533F-F455-CA4A-445D40651CA2}"/>
              </a:ext>
            </a:extLst>
          </p:cNvPr>
          <p:cNvCxnSpPr>
            <a:cxnSpLocks/>
          </p:cNvCxnSpPr>
          <p:nvPr/>
        </p:nvCxnSpPr>
        <p:spPr>
          <a:xfrm>
            <a:off x="5435597" y="2311146"/>
            <a:ext cx="0" cy="3795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998E1A6-906D-53FD-DD52-9634221C86A2}"/>
              </a:ext>
            </a:extLst>
          </p:cNvPr>
          <p:cNvSpPr txBox="1"/>
          <p:nvPr/>
        </p:nvSpPr>
        <p:spPr>
          <a:xfrm>
            <a:off x="2889193" y="2641915"/>
            <a:ext cx="518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Configure DAQ timing using DAQ max timing function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9F0783-BDA5-910E-5847-9BD5568B86B1}"/>
              </a:ext>
            </a:extLst>
          </p:cNvPr>
          <p:cNvSpPr/>
          <p:nvPr/>
        </p:nvSpPr>
        <p:spPr>
          <a:xfrm>
            <a:off x="2928621" y="2702162"/>
            <a:ext cx="5024118" cy="2871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8D75BB4-D250-DDD9-1470-1DC5CA388A15}"/>
              </a:ext>
            </a:extLst>
          </p:cNvPr>
          <p:cNvCxnSpPr/>
          <p:nvPr/>
        </p:nvCxnSpPr>
        <p:spPr>
          <a:xfrm>
            <a:off x="5440680" y="3011247"/>
            <a:ext cx="0" cy="2739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036D11C-646D-4A4E-1867-B23A1AD8BF6D}"/>
              </a:ext>
            </a:extLst>
          </p:cNvPr>
          <p:cNvSpPr txBox="1"/>
          <p:nvPr/>
        </p:nvSpPr>
        <p:spPr>
          <a:xfrm>
            <a:off x="4138637" y="3219628"/>
            <a:ext cx="251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scan waveform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227525F-1058-569F-075B-7EED1DB61FC4}"/>
              </a:ext>
            </a:extLst>
          </p:cNvPr>
          <p:cNvSpPr/>
          <p:nvPr/>
        </p:nvSpPr>
        <p:spPr>
          <a:xfrm>
            <a:off x="4138637" y="3295634"/>
            <a:ext cx="2413000" cy="25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D074FC-59B6-5C55-3607-258AFED0E24F}"/>
              </a:ext>
            </a:extLst>
          </p:cNvPr>
          <p:cNvSpPr txBox="1"/>
          <p:nvPr/>
        </p:nvSpPr>
        <p:spPr>
          <a:xfrm>
            <a:off x="3887508" y="3848236"/>
            <a:ext cx="319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Most preferable </a:t>
            </a:r>
          </a:p>
          <a:p>
            <a:r>
              <a:rPr lang="en-US" dirty="0"/>
              <a:t>X-axis: Sawtooth     Y-axis: Step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F2D8CD8-BB4B-58C3-7866-FB5FB4BAF95A}"/>
              </a:ext>
            </a:extLst>
          </p:cNvPr>
          <p:cNvSpPr/>
          <p:nvPr/>
        </p:nvSpPr>
        <p:spPr>
          <a:xfrm>
            <a:off x="3913989" y="3837825"/>
            <a:ext cx="2966715" cy="6721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F829734-6CB9-C565-C8C0-5AF5A304EB51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5397347" y="4509956"/>
            <a:ext cx="0" cy="2042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DEAE7EC-C598-2C63-B198-96D90672A337}"/>
              </a:ext>
            </a:extLst>
          </p:cNvPr>
          <p:cNvSpPr txBox="1"/>
          <p:nvPr/>
        </p:nvSpPr>
        <p:spPr>
          <a:xfrm>
            <a:off x="2464332" y="4713813"/>
            <a:ext cx="6036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voltage array to PCIe-DAQ using DAQ max write function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3902574-F7BD-1284-B4AD-B0410DFA185E}"/>
              </a:ext>
            </a:extLst>
          </p:cNvPr>
          <p:cNvSpPr/>
          <p:nvPr/>
        </p:nvSpPr>
        <p:spPr>
          <a:xfrm>
            <a:off x="2519495" y="4714240"/>
            <a:ext cx="5981426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E00B3A9-6041-F9D5-1A89-20213B21EB57}"/>
              </a:ext>
            </a:extLst>
          </p:cNvPr>
          <p:cNvCxnSpPr>
            <a:cxnSpLocks/>
          </p:cNvCxnSpPr>
          <p:nvPr/>
        </p:nvCxnSpPr>
        <p:spPr>
          <a:xfrm>
            <a:off x="5397346" y="5114350"/>
            <a:ext cx="0" cy="2806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3147B294-F428-81EE-0136-455DBBA4BA44}"/>
              </a:ext>
            </a:extLst>
          </p:cNvPr>
          <p:cNvSpPr txBox="1"/>
          <p:nvPr/>
        </p:nvSpPr>
        <p:spPr>
          <a:xfrm>
            <a:off x="3372095" y="5404115"/>
            <a:ext cx="438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PCIe DAQ outputs analog voltage (AO0, AO1)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B493856-1772-BEEB-D863-00FD199C2815}"/>
              </a:ext>
            </a:extLst>
          </p:cNvPr>
          <p:cNvCxnSpPr>
            <a:stCxn id="60" idx="2"/>
          </p:cNvCxnSpPr>
          <p:nvPr/>
        </p:nvCxnSpPr>
        <p:spPr>
          <a:xfrm>
            <a:off x="5397347" y="3588960"/>
            <a:ext cx="0" cy="231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7BB2A73-9C63-B353-9AE4-B9010FBD5F94}"/>
              </a:ext>
            </a:extLst>
          </p:cNvPr>
          <p:cNvSpPr/>
          <p:nvPr/>
        </p:nvSpPr>
        <p:spPr>
          <a:xfrm>
            <a:off x="3295685" y="5404115"/>
            <a:ext cx="4373881" cy="352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2FABA13-66DC-6CB7-9637-95FF2AC9D50F}"/>
              </a:ext>
            </a:extLst>
          </p:cNvPr>
          <p:cNvCxnSpPr/>
          <p:nvPr/>
        </p:nvCxnSpPr>
        <p:spPr>
          <a:xfrm>
            <a:off x="5345137" y="5773447"/>
            <a:ext cx="0" cy="2107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B4263A0-B99F-ECFD-30F8-88490FFCE532}"/>
              </a:ext>
            </a:extLst>
          </p:cNvPr>
          <p:cNvSpPr txBox="1"/>
          <p:nvPr/>
        </p:nvSpPr>
        <p:spPr>
          <a:xfrm>
            <a:off x="3522922" y="5935915"/>
            <a:ext cx="3919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Servo driver receives command voltage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52B0BDC-A078-A952-A24B-89ABA47379C0}"/>
              </a:ext>
            </a:extLst>
          </p:cNvPr>
          <p:cNvSpPr/>
          <p:nvPr/>
        </p:nvSpPr>
        <p:spPr>
          <a:xfrm>
            <a:off x="3522922" y="5984240"/>
            <a:ext cx="3804470" cy="321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32DCA1B-7AFA-5266-D4EA-9A682F63F691}"/>
              </a:ext>
            </a:extLst>
          </p:cNvPr>
          <p:cNvSpPr txBox="1"/>
          <p:nvPr/>
        </p:nvSpPr>
        <p:spPr>
          <a:xfrm>
            <a:off x="50800" y="6353572"/>
            <a:ext cx="1214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Reference: </a:t>
            </a:r>
            <a:r>
              <a:rPr lang="en-US" sz="1600" dirty="0">
                <a:hlinkClick r:id="rId2"/>
              </a:rPr>
              <a:t>https://industrialmonitordirect.com/blogs/knowledgebase/configuring-labview-daqmx-for-galvo-scanner-laser</a:t>
            </a:r>
            <a:r>
              <a:rPr lang="en-US" sz="1600" dirty="0"/>
              <a:t> marking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254791B-EF09-1944-1A1A-738337E0247F}"/>
              </a:ext>
            </a:extLst>
          </p:cNvPr>
          <p:cNvSpPr txBox="1"/>
          <p:nvPr/>
        </p:nvSpPr>
        <p:spPr>
          <a:xfrm>
            <a:off x="8115490" y="2641915"/>
            <a:ext cx="375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DAQ max timing function determine how often DAQ updates the output voltage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3F64700-7FDA-0CB9-3352-62E47E3DE56E}"/>
              </a:ext>
            </a:extLst>
          </p:cNvPr>
          <p:cNvSpPr txBox="1"/>
          <p:nvPr/>
        </p:nvSpPr>
        <p:spPr>
          <a:xfrm>
            <a:off x="8673642" y="4636243"/>
            <a:ext cx="351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DAQ max write sends data from computer to the NI-DAQ device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4F4DBAF-D5AA-453E-455C-1BB78E4043C0}"/>
              </a:ext>
            </a:extLst>
          </p:cNvPr>
          <p:cNvSpPr txBox="1"/>
          <p:nvPr/>
        </p:nvSpPr>
        <p:spPr>
          <a:xfrm>
            <a:off x="7105229" y="3769185"/>
            <a:ext cx="4925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Sawtooth waveform for continuous line scanning </a:t>
            </a:r>
          </a:p>
        </p:txBody>
      </p:sp>
    </p:spTree>
    <p:extLst>
      <p:ext uri="{BB962C8B-B14F-4D97-AF65-F5344CB8AC3E}">
        <p14:creationId xmlns:p14="http://schemas.microsoft.com/office/powerpoint/2010/main" val="285781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633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2</cp:revision>
  <dcterms:created xsi:type="dcterms:W3CDTF">2026-08-05T11:22:11Z</dcterms:created>
  <dcterms:modified xsi:type="dcterms:W3CDTF">2026-08-09T19:22:32Z</dcterms:modified>
</cp:coreProperties>
</file>