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40C1EA-360D-41B2-90F2-1B4A9E6B99A0}" v="21" dt="2026-09-15T06:45:46.8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k Dhar" userId="c4d4e3cd4fc7599c" providerId="LiveId" clId="{82E73AF5-9B92-416D-A1FE-A340BE750CC5}"/>
    <pc:docChg chg="undo custSel addSld modSld">
      <pc:chgData name="Pratik Dhar" userId="c4d4e3cd4fc7599c" providerId="LiveId" clId="{82E73AF5-9B92-416D-A1FE-A340BE750CC5}" dt="2026-09-15T07:13:52.406" v="414" actId="20577"/>
      <pc:docMkLst>
        <pc:docMk/>
      </pc:docMkLst>
      <pc:sldChg chg="modSp mod">
        <pc:chgData name="Pratik Dhar" userId="c4d4e3cd4fc7599c" providerId="LiveId" clId="{82E73AF5-9B92-416D-A1FE-A340BE750CC5}" dt="2026-09-15T07:13:52.406" v="414" actId="20577"/>
        <pc:sldMkLst>
          <pc:docMk/>
          <pc:sldMk cId="1830493507" sldId="256"/>
        </pc:sldMkLst>
        <pc:graphicFrameChg chg="mod modGraphic">
          <ac:chgData name="Pratik Dhar" userId="c4d4e3cd4fc7599c" providerId="LiveId" clId="{82E73AF5-9B92-416D-A1FE-A340BE750CC5}" dt="2026-09-15T07:13:52.406" v="414" actId="20577"/>
          <ac:graphicFrameMkLst>
            <pc:docMk/>
            <pc:sldMk cId="1830493507" sldId="256"/>
            <ac:graphicFrameMk id="5" creationId="{80327B79-A33E-AD6A-2AD1-FB423E74FFC2}"/>
          </ac:graphicFrameMkLst>
        </pc:graphicFrameChg>
      </pc:sldChg>
      <pc:sldChg chg="add">
        <pc:chgData name="Pratik Dhar" userId="c4d4e3cd4fc7599c" providerId="LiveId" clId="{82E73AF5-9B92-416D-A1FE-A340BE750CC5}" dt="2026-09-15T06:39:38.973" v="0" actId="2890"/>
        <pc:sldMkLst>
          <pc:docMk/>
          <pc:sldMk cId="3098118567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ABDDB-E957-7CD5-D71F-FCFA8A67E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18D327-E667-D000-1134-F04EC95B0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33BF3-34DC-5C57-5DAF-1AD83DBF2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455A-7520-43A6-9627-FFD82456EC8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61C9B-446C-05F3-37DB-F76DFB4BD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AC4E9-75CE-1F6C-43B6-A6B78F5C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7D3-8A2A-4FED-A28C-E63F8B709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1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82EB-7708-81EB-78B9-C7490A2C5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90B72-BB16-0681-7CB1-D64F2562C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B9B42-3D7D-EED6-1DDF-E8ABEDA99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455A-7520-43A6-9627-FFD82456EC8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EBB6B-461B-AB0F-C89F-4EE3DBCE0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FD0D0-2010-07F0-C9B0-B8ED0876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7D3-8A2A-4FED-A28C-E63F8B709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21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9CFCB-5E29-B7BA-F98D-D0B8C0504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ABDC6-B1F5-5375-43B6-6383FAC24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6D81C-CE68-9DD9-2A03-4B3139DC3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455A-7520-43A6-9627-FFD82456EC8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B2D3E-E52D-9D45-A52E-0948724B6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18688-85A6-3A30-9F42-1CCE9DB39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7D3-8A2A-4FED-A28C-E63F8B709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477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2B2B-AFAC-1ED5-7748-3745CB4C6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47CBA-FAF8-A250-20A2-80EF8A897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14998-5466-0DB5-D937-FD32009C1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BB149-C21D-F208-9ED9-C9475310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455A-7520-43A6-9627-FFD82456EC8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BD171-A747-93AE-D142-1D54956E6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858BE-B4D8-63D3-3A8C-ECB14D062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7D3-8A2A-4FED-A28C-E63F8B709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03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B60FE-4928-2E20-A06B-169A58F1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85D4E-A216-DEFF-5DC6-E134C37DC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E7EBA-36B6-6A02-4379-C14EBBC02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12E519-60FB-E948-A04F-9C3A4DB6F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D0DC99-5957-7B7E-7FF9-14EFA32A3A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6A5F14-CB05-F904-8AA7-0CFAB2C14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455A-7520-43A6-9627-FFD82456EC8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46EBC2-8DB9-7CC4-0F12-1FEEB726B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9969AC-1731-77B7-86C3-781FE8BA5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7D3-8A2A-4FED-A28C-E63F8B709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71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80234-1998-87C4-6347-8EF55DA8C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124927-897F-BB7D-B942-D696EB9B4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455A-7520-43A6-9627-FFD82456EC8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13E34-AB49-CA0D-2863-7230DF0AC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FDB621-89DF-9E6A-E323-295CAA27C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7D3-8A2A-4FED-A28C-E63F8B709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37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72A03-3DCD-FF75-A805-3304E85C1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455A-7520-43A6-9627-FFD82456EC8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F611C5-39D7-5C7D-5986-B728C59E2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6463A-9AEA-073D-CFD4-ED038954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7D3-8A2A-4FED-A28C-E63F8B709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37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5423D-5596-C33E-80C4-9859A2EF0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9163E-105C-D49F-4EA3-7B06248FF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2B22A-4223-B35C-7118-AFBE3EEA7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1B282-B421-063D-44E7-D5BBF0FC5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455A-7520-43A6-9627-FFD82456EC8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26B5-C4E0-67AE-F2DC-3B032D0EF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4A25E-8D25-95AC-089A-F5781AB01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7D3-8A2A-4FED-A28C-E63F8B709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90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57A2-4365-3F7E-2C36-EB1D496AE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2E84DB-0506-DC84-03FA-00F8150B97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54B6F6-E9AB-10F3-0B12-84D5025FC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F8573-B5D0-2CAB-6209-E4FD6D28A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455A-7520-43A6-9627-FFD82456EC8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E402E-5FAC-56EA-865E-D1C2B3ACE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27BEE-3AFF-6254-6CA2-06721D6D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7D3-8A2A-4FED-A28C-E63F8B709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7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BEE8A-8D90-9F4C-90CA-8C94A689D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B96E9-3C3E-94A1-8226-BDC769E85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1E9B2-D489-8F89-0B00-3ABF6B1B5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455A-7520-43A6-9627-FFD82456EC8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A5A80-57EC-5C89-D68A-0A8048AFD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328E1-AADE-34EF-DE3E-A1FBA1AB2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7D3-8A2A-4FED-A28C-E63F8B709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950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7FA252-93F8-3BC4-5120-5D759757A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D745E-5DC8-C682-071C-10535F9B5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075D3-B7F6-1445-6D61-FFBE1378D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455A-7520-43A6-9627-FFD82456EC8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CFC94-27B0-FEDD-6CCF-E9C4B2D3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F9118-A71F-B15B-24A0-6FF07AD24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7D3-8A2A-4FED-A28C-E63F8B709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3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3CBB5C-43DB-4065-E65B-3CD081BDC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69FCE-600D-2710-1015-90FE9F2A0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D9AC-081C-89F6-C3A1-513BC8EFB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0455A-7520-43A6-9627-FFD82456EC8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42EA1-B2C4-2572-C101-D7DC7DE7F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86A27-8A3A-17E2-B8E1-FAD6E5BEE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3A7D3-8A2A-4FED-A28C-E63F8B709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1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pmc.ncbi.nlm.nih.gov/articles/PMC6595382/" TargetMode="External"/><Relationship Id="rId3" Type="http://schemas.openxmlformats.org/officeDocument/2006/relationships/hyperlink" Target="https://www.sciencedirect.com/science/article/pii/S2667237526001827" TargetMode="External"/><Relationship Id="rId7" Type="http://schemas.openxmlformats.org/officeDocument/2006/relationships/hyperlink" Target="http://azolifesciences.com/article/Unveiling-Health-Clues-The-Power-of-Colorimetric-Sensing-in-Detecting-Biomarkers.aspx" TargetMode="External"/><Relationship Id="rId2" Type="http://schemas.openxmlformats.org/officeDocument/2006/relationships/hyperlink" Target="https://iovs.arvojournals.org/article.aspx?articleid=2642891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ubs.acs.org/ancham/article/97/9/5029/3608637/Label-Free-Detection-of-Biochemical-Changes-during" TargetMode="External"/><Relationship Id="rId11" Type="http://schemas.openxmlformats.org/officeDocument/2006/relationships/hyperlink" Target="https://advanced.onlinelibrary.wiley.com/doi/full/10.1002/advs.202202505" TargetMode="External"/><Relationship Id="rId5" Type="http://schemas.openxmlformats.org/officeDocument/2006/relationships/hyperlink" Target="https://www.spiedigitallibrary.org/journals/Journal-of-Biomedical-Optics/volume-19/issue-1/010901/Medical-hyperspectral-imaging-a-review/10.1117/1.JBO.19.1.010901.short" TargetMode="External"/><Relationship Id="rId10" Type="http://schemas.openxmlformats.org/officeDocument/2006/relationships/hyperlink" Target="https://www.sciencedirect.com/science/article/pii/S2213231722003500#bbib38" TargetMode="External"/><Relationship Id="rId4" Type="http://schemas.openxmlformats.org/officeDocument/2006/relationships/hyperlink" Target="https://www.frontiersin.org/journals/cellular-neuroscience/articles/10.3389/fncel.2021.796903/full" TargetMode="External"/><Relationship Id="rId9" Type="http://schemas.openxmlformats.org/officeDocument/2006/relationships/hyperlink" Target="https://pmc.ncbi.nlm.nih.gov/articles/PMC2988473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327B79-A33E-AD6A-2AD1-FB423E74F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803489"/>
              </p:ext>
            </p:extLst>
          </p:nvPr>
        </p:nvGraphicFramePr>
        <p:xfrm>
          <a:off x="157316" y="167149"/>
          <a:ext cx="11493910" cy="5769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442">
                  <a:extLst>
                    <a:ext uri="{9D8B030D-6E8A-4147-A177-3AD203B41FA5}">
                      <a16:colId xmlns:a16="http://schemas.microsoft.com/office/drawing/2014/main" val="1812567773"/>
                    </a:ext>
                  </a:extLst>
                </a:gridCol>
                <a:gridCol w="4966597">
                  <a:extLst>
                    <a:ext uri="{9D8B030D-6E8A-4147-A177-3AD203B41FA5}">
                      <a16:colId xmlns:a16="http://schemas.microsoft.com/office/drawing/2014/main" val="636888032"/>
                    </a:ext>
                  </a:extLst>
                </a:gridCol>
                <a:gridCol w="2792126">
                  <a:extLst>
                    <a:ext uri="{9D8B030D-6E8A-4147-A177-3AD203B41FA5}">
                      <a16:colId xmlns:a16="http://schemas.microsoft.com/office/drawing/2014/main" val="1511601350"/>
                    </a:ext>
                  </a:extLst>
                </a:gridCol>
                <a:gridCol w="3339745">
                  <a:extLst>
                    <a:ext uri="{9D8B030D-6E8A-4147-A177-3AD203B41FA5}">
                      <a16:colId xmlns:a16="http://schemas.microsoft.com/office/drawing/2014/main" val="4119920489"/>
                    </a:ext>
                  </a:extLst>
                </a:gridCol>
              </a:tblGrid>
              <a:tr h="8012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Functional/Spectral biomarkers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Imaging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620147"/>
                  </a:ext>
                </a:extLst>
              </a:tr>
              <a:tr h="80129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Albumin </a:t>
                      </a:r>
                    </a:p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Liver organoid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NIR Fluoresce </a:t>
                      </a:r>
                    </a:p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400653"/>
                  </a:ext>
                </a:extLst>
              </a:tr>
              <a:tr h="794484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NADH, FAD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Retinal organoid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Multiphoton fluorescence microscopy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685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Collagen, Tryptophan</a:t>
                      </a:r>
                    </a:p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Skin</a:t>
                      </a:r>
                    </a:p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onfocal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reflection microscopy </a:t>
                      </a:r>
                    </a:p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860995"/>
                  </a:ext>
                </a:extLst>
              </a:tr>
              <a:tr h="847579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Oxyhemoglobin and deoxyhemoglobin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Skeletal muscle cells,  cardiac muscle cells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 Spectral Imaging (HSI)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371199"/>
                  </a:ext>
                </a:extLst>
              </a:tr>
              <a:tr h="80129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Retinol and Retinoic acid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Retinal Organoid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556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493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79A48-0E9A-571E-FA65-8BA02221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3C6AAF-0C88-A809-9984-2518859C332D}"/>
              </a:ext>
            </a:extLst>
          </p:cNvPr>
          <p:cNvGraphicFramePr>
            <a:graphicFrameLocks noGrp="1"/>
          </p:cNvGraphicFramePr>
          <p:nvPr/>
        </p:nvGraphicFramePr>
        <p:xfrm>
          <a:off x="393297" y="1"/>
          <a:ext cx="11297257" cy="6600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604">
                  <a:extLst>
                    <a:ext uri="{9D8B030D-6E8A-4147-A177-3AD203B41FA5}">
                      <a16:colId xmlns:a16="http://schemas.microsoft.com/office/drawing/2014/main" val="1812567773"/>
                    </a:ext>
                  </a:extLst>
                </a:gridCol>
                <a:gridCol w="2192476">
                  <a:extLst>
                    <a:ext uri="{9D8B030D-6E8A-4147-A177-3AD203B41FA5}">
                      <a16:colId xmlns:a16="http://schemas.microsoft.com/office/drawing/2014/main" val="636888032"/>
                    </a:ext>
                  </a:extLst>
                </a:gridCol>
                <a:gridCol w="1192979">
                  <a:extLst>
                    <a:ext uri="{9D8B030D-6E8A-4147-A177-3AD203B41FA5}">
                      <a16:colId xmlns:a16="http://schemas.microsoft.com/office/drawing/2014/main" val="1511601350"/>
                    </a:ext>
                  </a:extLst>
                </a:gridCol>
                <a:gridCol w="1378096">
                  <a:extLst>
                    <a:ext uri="{9D8B030D-6E8A-4147-A177-3AD203B41FA5}">
                      <a16:colId xmlns:a16="http://schemas.microsoft.com/office/drawing/2014/main" val="4119920489"/>
                    </a:ext>
                  </a:extLst>
                </a:gridCol>
                <a:gridCol w="2540224">
                  <a:extLst>
                    <a:ext uri="{9D8B030D-6E8A-4147-A177-3AD203B41FA5}">
                      <a16:colId xmlns:a16="http://schemas.microsoft.com/office/drawing/2014/main" val="3377674539"/>
                    </a:ext>
                  </a:extLst>
                </a:gridCol>
                <a:gridCol w="1532361">
                  <a:extLst>
                    <a:ext uri="{9D8B030D-6E8A-4147-A177-3AD203B41FA5}">
                      <a16:colId xmlns:a16="http://schemas.microsoft.com/office/drawing/2014/main" val="1727900316"/>
                    </a:ext>
                  </a:extLst>
                </a:gridCol>
                <a:gridCol w="1645489">
                  <a:extLst>
                    <a:ext uri="{9D8B030D-6E8A-4147-A177-3AD203B41FA5}">
                      <a16:colId xmlns:a16="http://schemas.microsoft.com/office/drawing/2014/main" val="514447795"/>
                    </a:ext>
                  </a:extLst>
                </a:gridCol>
                <a:gridCol w="509028">
                  <a:extLst>
                    <a:ext uri="{9D8B030D-6E8A-4147-A177-3AD203B41FA5}">
                      <a16:colId xmlns:a16="http://schemas.microsoft.com/office/drawing/2014/main" val="1837875334"/>
                    </a:ext>
                  </a:extLst>
                </a:gridCol>
              </a:tblGrid>
              <a:tr h="50471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Functional/Spectral biomarkers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Organoid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Imaging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Spatial/structural biomarker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620147"/>
                  </a:ext>
                </a:extLst>
              </a:tr>
              <a:tr h="86840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Retinol and Retinoic acid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Retinal organoid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hlinkClick r:id="rId2"/>
                        </a:rPr>
                        <a:t>https://iovs.arvojournals.org/article.aspx?articleid=2642891</a:t>
                      </a:r>
                      <a:r>
                        <a:rPr lang="en-US" sz="1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Proliferating cell, cell counting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https://www.frontiersin.org/journals/cell-and-developmental-biology/articles/10.3389/fcell.2026.1861934/full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400653"/>
                  </a:ext>
                </a:extLst>
              </a:tr>
              <a:tr h="62347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NADH, FAD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Retinal organoid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Multiphoton fluorescence microscopy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hlinkClick r:id="rId2"/>
                        </a:rPr>
                        <a:t>https://iovs.arvojournals.org/article.aspx?articleid=2642891</a:t>
                      </a:r>
                      <a:r>
                        <a:rPr lang="en-US" sz="1000" dirty="0"/>
                        <a:t> </a:t>
                      </a:r>
                    </a:p>
                  </a:txBody>
                  <a:tcPr/>
                </a:tc>
                <a:tc rowSpan="3" gridSpan="3">
                  <a:txBody>
                    <a:bodyPr/>
                    <a:lstStyle/>
                    <a:p>
                      <a:r>
                        <a:rPr lang="en-US" sz="1400" dirty="0"/>
                        <a:t>Perimeter, Feret’s diameter, Roundness, Texture, Circularity, Inflection points </a:t>
                      </a:r>
                      <a:r>
                        <a:rPr lang="en-US" sz="1200" dirty="0"/>
                        <a:t>(</a:t>
                      </a:r>
                      <a:r>
                        <a:rPr lang="en-US" sz="1200" dirty="0">
                          <a:hlinkClick r:id="rId3"/>
                        </a:rPr>
                        <a:t>https://www.sciencedirect.com/science/article/pii/S2667237526001827</a:t>
                      </a:r>
                      <a:r>
                        <a:rPr lang="en-US" sz="1200" dirty="0"/>
                        <a:t> )</a:t>
                      </a:r>
                      <a:endParaRPr lang="en-US" sz="1400" dirty="0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B w="12700" cmpd="sng"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685344"/>
                  </a:ext>
                </a:extLst>
              </a:tr>
              <a:tr h="68285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Retinal pigment epithelium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Human retina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hlinkClick r:id="rId4"/>
                        </a:rPr>
                        <a:t>https://www.frontiersin.org/journals/cellular-neuroscience/articles/10.3389/fncel.2021.796903/full</a:t>
                      </a:r>
                      <a:r>
                        <a:rPr lang="en-US" sz="1000" dirty="0"/>
                        <a:t> </a:t>
                      </a:r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97860995"/>
                  </a:ext>
                </a:extLst>
              </a:tr>
              <a:tr h="831295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Oxyhemoglobin and deoxyhemoglobin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skeletal muscle cells,  cardiac muscle cells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hlinkClick r:id="rId5"/>
                        </a:rPr>
                        <a:t>https://www.spiedigitallibrary.org/journals/Journal-of-Biomedical-Optics/volume-19/issue-1/010901/Medical-hyperspectral-imaging-a-review/10.1117/1.JBO.19.1.010901.short</a:t>
                      </a:r>
                      <a:r>
                        <a:rPr lang="en-US" sz="1000" dirty="0"/>
                        <a:t> </a:t>
                      </a:r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mpd="sng">
                      <a:noFill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371199"/>
                  </a:ext>
                </a:extLst>
              </a:tr>
              <a:tr h="534404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Glycogen, Nucleic acid, lipids (Functional biomarkers)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Cortical Organoid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Raman Spectroscopy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hlinkClick r:id="rId6"/>
                        </a:rPr>
                        <a:t>https://pubs.acs.org/ancham/article/97/9/5029/3608637/Label-Free-Detection-of-Biochemical-Changes-during</a:t>
                      </a:r>
                      <a:r>
                        <a:rPr lang="en-US" sz="1000" dirty="0"/>
                        <a:t> </a:t>
                      </a:r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r>
                        <a:rPr lang="en-US" sz="1400" dirty="0"/>
                        <a:t>Colorimetric assay for biomarker detection: 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Enzyme-linked colorimetric assays , like glucose, urea can be detected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colorimetrically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http://azolifesciences.com/article/Unveiling-Health-Clues-The-Power-of-Colorimetric-Sensing-in-Detecting-Biomarkers.aspx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  <a:endParaRPr lang="en-US" sz="1200" dirty="0"/>
                    </a:p>
                    <a:p>
                      <a:endParaRPr lang="en-US" sz="1600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556943"/>
                  </a:ext>
                </a:extLst>
              </a:tr>
              <a:tr h="979741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Collagen, Tryptophan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Human Skin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confocal reflection microscopy 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hlinkClick r:id="rId8"/>
                        </a:rPr>
                        <a:t>https://pmc.ncbi.nlm.nih.gov/articles/PMC6595382/</a:t>
                      </a:r>
                      <a:r>
                        <a:rPr lang="en-US" sz="1000" dirty="0"/>
                        <a:t> </a:t>
                      </a:r>
                    </a:p>
                    <a:p>
                      <a:endParaRPr lang="en-US" sz="1000" dirty="0"/>
                    </a:p>
                    <a:p>
                      <a:r>
                        <a:rPr lang="en-US" sz="1000" dirty="0">
                          <a:hlinkClick r:id="rId9"/>
                        </a:rPr>
                        <a:t>https://pmc.ncbi.nlm.nih.gov/articles/PMC2988473/</a:t>
                      </a:r>
                      <a:r>
                        <a:rPr lang="en-US" sz="1000" dirty="0"/>
                        <a:t> 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179857"/>
                  </a:ext>
                </a:extLst>
              </a:tr>
              <a:tr h="62347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Lipofuscin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Fluorescence lifetime imaging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hlinkClick r:id="rId10"/>
                        </a:rPr>
                        <a:t>https://www.sciencedirect.com/science/article/pii/S2213231722003500#bbib38</a:t>
                      </a:r>
                      <a:r>
                        <a:rPr lang="en-US" sz="1000" dirty="0"/>
                        <a:t> 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895522"/>
                  </a:ext>
                </a:extLst>
              </a:tr>
              <a:tr h="801606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Albumin (Functional biomarker)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Found in liver, synthesis by hepatocytes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NIR Fluorescence imaging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hlinkClick r:id="rId11"/>
                        </a:rPr>
                        <a:t>https://advanced.onlinelibrary.wiley.com/doi/full/10.1002/advs.202202505</a:t>
                      </a:r>
                      <a:r>
                        <a:rPr lang="en-US" sz="1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40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8118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336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398</Words>
  <Application>Microsoft Office PowerPoint</Application>
  <PresentationFormat>Widescreen</PresentationFormat>
  <Paragraphs>76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Dhar</dc:creator>
  <cp:lastModifiedBy>Pratik Dhar</cp:lastModifiedBy>
  <cp:revision>2</cp:revision>
  <dcterms:created xsi:type="dcterms:W3CDTF">2026-09-10T19:19:37Z</dcterms:created>
  <dcterms:modified xsi:type="dcterms:W3CDTF">2026-09-15T07:13:54Z</dcterms:modified>
</cp:coreProperties>
</file>